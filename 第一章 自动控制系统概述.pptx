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handoutMasterIdLst>
    <p:handoutMasterId r:id="rId62"/>
  </p:handoutMasterIdLst>
  <p:sldIdLst>
    <p:sldId id="401" r:id="rId2"/>
    <p:sldId id="402" r:id="rId3"/>
    <p:sldId id="288" r:id="rId4"/>
    <p:sldId id="256" r:id="rId5"/>
    <p:sldId id="257" r:id="rId6"/>
    <p:sldId id="343" r:id="rId7"/>
    <p:sldId id="344" r:id="rId8"/>
    <p:sldId id="347" r:id="rId9"/>
    <p:sldId id="349" r:id="rId10"/>
    <p:sldId id="348" r:id="rId11"/>
    <p:sldId id="346" r:id="rId12"/>
    <p:sldId id="345"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460" r:id="rId49"/>
    <p:sldId id="387" r:id="rId50"/>
    <p:sldId id="388" r:id="rId51"/>
    <p:sldId id="389" r:id="rId52"/>
    <p:sldId id="390" r:id="rId53"/>
    <p:sldId id="391" r:id="rId54"/>
    <p:sldId id="393" r:id="rId55"/>
    <p:sldId id="392" r:id="rId56"/>
    <p:sldId id="394" r:id="rId57"/>
    <p:sldId id="395" r:id="rId58"/>
    <p:sldId id="461" r:id="rId59"/>
    <p:sldId id="397" r:id="rId60"/>
  </p:sldIdLst>
  <p:sldSz cx="9144000" cy="6858000" type="screen4x3"/>
  <p:notesSz cx="6858000" cy="9144000"/>
  <p:defaultTextStyle>
    <a:defPPr>
      <a:defRPr lang="zh-CN"/>
    </a:defPPr>
    <a:lvl1pPr algn="l" rtl="0" fontAlgn="base">
      <a:lnSpc>
        <a:spcPct val="90000"/>
      </a:lnSpc>
      <a:spcBef>
        <a:spcPct val="20000"/>
      </a:spcBef>
      <a:spcAft>
        <a:spcPct val="0"/>
      </a:spcAft>
      <a:buChar char="•"/>
      <a:defRPr sz="2800"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90000"/>
      </a:lnSpc>
      <a:spcBef>
        <a:spcPct val="20000"/>
      </a:spcBef>
      <a:spcAft>
        <a:spcPct val="0"/>
      </a:spcAft>
      <a:buChar char="•"/>
      <a:defRPr sz="2800"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90000"/>
      </a:lnSpc>
      <a:spcBef>
        <a:spcPct val="20000"/>
      </a:spcBef>
      <a:spcAft>
        <a:spcPct val="0"/>
      </a:spcAft>
      <a:buChar char="•"/>
      <a:defRPr sz="2800"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90000"/>
      </a:lnSpc>
      <a:spcBef>
        <a:spcPct val="20000"/>
      </a:spcBef>
      <a:spcAft>
        <a:spcPct val="0"/>
      </a:spcAft>
      <a:buChar char="•"/>
      <a:defRPr sz="2800"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90000"/>
      </a:lnSpc>
      <a:spcBef>
        <a:spcPct val="20000"/>
      </a:spcBef>
      <a:spcAft>
        <a:spcPct val="0"/>
      </a:spcAft>
      <a:buChar char="•"/>
      <a:defRPr sz="2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800"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996633"/>
    <a:srgbClr val="FF3300"/>
    <a:srgbClr val="FFFF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08" autoAdjust="0"/>
    <p:restoredTop sz="94746" autoAdjust="0"/>
  </p:normalViewPr>
  <p:slideViewPr>
    <p:cSldViewPr>
      <p:cViewPr>
        <p:scale>
          <a:sx n="100" d="100"/>
          <a:sy n="100" d="100"/>
        </p:scale>
        <p:origin x="-2148"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952" y="-102"/>
      </p:cViewPr>
      <p:guideLst>
        <p:guide orient="horz" pos="2880"/>
        <p:guide pos="2160"/>
      </p:guideLst>
    </p:cSldViewPr>
  </p:notesViewPr>
  <p:gridSpacing cx="90012" cy="90012"/>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E821BD11-3543-4D65-8E37-AD20EDFA02E3}" type="datetimeFigureOut">
              <a:rPr lang="zh-CN" altLang="en-US"/>
              <a:t>2018/5/17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pPr>
              <a:defRPr/>
            </a:pPr>
            <a:fld id="{24A4B4DF-0AA5-446B-A69D-DAF40CA19D62}" type="slidenum">
              <a:rPr lang="zh-CN" altLang="en-US"/>
              <a:t>‹#›</a:t>
            </a:fld>
            <a:endParaRPr lang="zh-CN" altLang="en-US"/>
          </a:p>
        </p:txBody>
      </p:sp>
    </p:spTree>
    <p:extLst>
      <p:ext uri="{BB962C8B-B14F-4D97-AF65-F5344CB8AC3E}">
        <p14:creationId xmlns:p14="http://schemas.microsoft.com/office/powerpoint/2010/main" val="886641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FontTx/>
              <a:buNone/>
              <a:defRPr sz="1200">
                <a:latin typeface="Arial" panose="020B0604020202020204" pitchFamily="34" charset="0"/>
              </a:defRPr>
            </a:lvl1pPr>
          </a:lstStyle>
          <a:p>
            <a:pPr>
              <a:defRPr/>
            </a:pPr>
            <a:endParaRPr lang="en-US" altLang="zh-CN"/>
          </a:p>
        </p:txBody>
      </p:sp>
      <p:sp>
        <p:nvSpPr>
          <p:cNvPr id="1628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FontTx/>
              <a:buNone/>
              <a:defRPr sz="1200">
                <a:latin typeface="Arial" panose="020B0604020202020204" pitchFamily="34" charset="0"/>
              </a:defRPr>
            </a:lvl1pPr>
          </a:lstStyle>
          <a:p>
            <a:pPr>
              <a:defRPr/>
            </a:pPr>
            <a:endParaRPr lang="en-US" altLang="zh-CN"/>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28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28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FontTx/>
              <a:buNone/>
              <a:defRPr sz="1200">
                <a:latin typeface="Arial" panose="020B0604020202020204" pitchFamily="34" charset="0"/>
              </a:defRPr>
            </a:lvl1pPr>
          </a:lstStyle>
          <a:p>
            <a:pPr>
              <a:defRPr/>
            </a:pPr>
            <a:endParaRPr lang="en-US" altLang="zh-CN"/>
          </a:p>
        </p:txBody>
      </p:sp>
      <p:sp>
        <p:nvSpPr>
          <p:cNvPr id="162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FontTx/>
              <a:buNone/>
              <a:defRPr sz="1200">
                <a:latin typeface="Arial" panose="020B0604020202020204" pitchFamily="34" charset="0"/>
              </a:defRPr>
            </a:lvl1pPr>
          </a:lstStyle>
          <a:p>
            <a:pPr>
              <a:defRPr/>
            </a:pPr>
            <a:fld id="{2E91E8AC-B65D-457A-B71C-B138AFF233BC}" type="slidenum">
              <a:rPr lang="en-US" altLang="zh-CN"/>
              <a:t>‹#›</a:t>
            </a:fld>
            <a:endParaRPr lang="en-US" altLang="zh-CN"/>
          </a:p>
        </p:txBody>
      </p:sp>
    </p:spTree>
    <p:extLst>
      <p:ext uri="{BB962C8B-B14F-4D97-AF65-F5344CB8AC3E}">
        <p14:creationId xmlns:p14="http://schemas.microsoft.com/office/powerpoint/2010/main" val="13668938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fld id="{38FB0E7E-9CDB-4C03-9C16-C66CB3E84DAD}" type="slidenum">
              <a:rPr lang="en-US" altLang="zh-CN" sz="1200" smtClean="0"/>
              <a:t>4</a:t>
            </a:fld>
            <a:endParaRPr lang="en-US" altLang="zh-CN" sz="1200" smtClean="0"/>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mpbook.com/"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170" name="Picture 7" descr="机工社标">
            <a:hlinkClick r:id="rId13"/>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8192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WordArt 12"/>
          <p:cNvSpPr>
            <a:spLocks noChangeArrowheads="1" noChangeShapeType="1" noTextEdit="1"/>
          </p:cNvSpPr>
          <p:nvPr/>
        </p:nvSpPr>
        <p:spPr bwMode="auto">
          <a:xfrm>
            <a:off x="6238875" y="6372225"/>
            <a:ext cx="2828925" cy="257175"/>
          </a:xfrm>
          <a:prstGeom prst="rect">
            <a:avLst/>
          </a:prstGeom>
        </p:spPr>
        <p:txBody>
          <a:bodyPr wrap="none" fromWordArt="1">
            <a:prstTxWarp prst="textPlain">
              <a:avLst>
                <a:gd name="adj" fmla="val 50000"/>
              </a:avLst>
            </a:prstTxWarp>
          </a:bodyPr>
          <a:lstStyle/>
          <a:p>
            <a:pPr algn="ctr">
              <a:buFontTx/>
              <a:buNone/>
            </a:pPr>
            <a:r>
              <a:rPr lang="zh-CN" altLang="en-US" sz="2000" i="1" kern="10" spc="400" normalizeH="1">
                <a:ln w="9525">
                  <a:solidFill>
                    <a:srgbClr val="FFCC99"/>
                  </a:solidFill>
                  <a:round/>
                </a:ln>
                <a:solidFill>
                  <a:schemeClr val="accent1">
                    <a:alpha val="25098"/>
                  </a:schemeClr>
                </a:solidFill>
                <a:effectLst>
                  <a:outerShdw dist="35921" dir="2700000" algn="ctr" rotWithShape="0">
                    <a:srgbClr val="808080">
                      <a:alpha val="79999"/>
                    </a:srgbClr>
                  </a:outerShdw>
                </a:effectLst>
                <a:latin typeface="宋体" panose="02010600030101010101" pitchFamily="2" charset="-122"/>
                <a:ea typeface="宋体" panose="02010600030101010101" pitchFamily="2" charset="-122"/>
              </a:rPr>
              <a:t>电气自动控制原理与系统</a:t>
            </a:r>
          </a:p>
        </p:txBody>
      </p:sp>
      <p:sp>
        <p:nvSpPr>
          <p:cNvPr id="1037" name="Rectangle 13"/>
          <p:cNvSpPr>
            <a:spLocks noChangeArrowheads="1"/>
          </p:cNvSpPr>
          <p:nvPr/>
        </p:nvSpPr>
        <p:spPr bwMode="auto">
          <a:xfrm>
            <a:off x="1828800" y="338138"/>
            <a:ext cx="7239000" cy="76200"/>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a:defRPr/>
            </a:pPr>
            <a:endParaRPr lang="zh-CN" altLang="en-US">
              <a:latin typeface="Arial" panose="020B0604020202020204" pitchFamily="34" charset="0"/>
            </a:endParaRPr>
          </a:p>
        </p:txBody>
      </p:sp>
      <p:sp>
        <p:nvSpPr>
          <p:cNvPr id="1038" name="Rectangle 14"/>
          <p:cNvSpPr>
            <a:spLocks noChangeArrowheads="1"/>
          </p:cNvSpPr>
          <p:nvPr/>
        </p:nvSpPr>
        <p:spPr bwMode="auto">
          <a:xfrm rot="10800000">
            <a:off x="1905000" y="6718300"/>
            <a:ext cx="7239000" cy="76200"/>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a:defRPr/>
            </a:pPr>
            <a:endParaRPr lang="zh-CN" altLang="en-US">
              <a:latin typeface="Arial" panose="020B0604020202020204" pitchFamily="34" charset="0"/>
            </a:endParaRPr>
          </a:p>
        </p:txBody>
      </p:sp>
      <p:sp>
        <p:nvSpPr>
          <p:cNvPr id="1039" name="Rectangle 15"/>
          <p:cNvSpPr>
            <a:spLocks noChangeArrowheads="1"/>
          </p:cNvSpPr>
          <p:nvPr/>
        </p:nvSpPr>
        <p:spPr bwMode="auto">
          <a:xfrm rot="10800000">
            <a:off x="8839200" y="5334000"/>
            <a:ext cx="304800" cy="304800"/>
          </a:xfrm>
          <a:prstGeom prst="rect">
            <a:avLst/>
          </a:prstGeom>
          <a:solidFill>
            <a:srgbClr val="FF33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0" name="Rectangle 16"/>
          <p:cNvSpPr>
            <a:spLocks noChangeArrowheads="1"/>
          </p:cNvSpPr>
          <p:nvPr/>
        </p:nvSpPr>
        <p:spPr bwMode="auto">
          <a:xfrm rot="10800000">
            <a:off x="8229600" y="6553200"/>
            <a:ext cx="304800" cy="304800"/>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1" name="Rectangle 17"/>
          <p:cNvSpPr>
            <a:spLocks noChangeArrowheads="1"/>
          </p:cNvSpPr>
          <p:nvPr/>
        </p:nvSpPr>
        <p:spPr bwMode="auto">
          <a:xfrm rot="10800000">
            <a:off x="8534400" y="6248400"/>
            <a:ext cx="304800" cy="304800"/>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2" name="Rectangle 18"/>
          <p:cNvSpPr>
            <a:spLocks noChangeArrowheads="1"/>
          </p:cNvSpPr>
          <p:nvPr/>
        </p:nvSpPr>
        <p:spPr bwMode="auto">
          <a:xfrm rot="10800000">
            <a:off x="8839200" y="5943600"/>
            <a:ext cx="304800" cy="304800"/>
          </a:xfrm>
          <a:prstGeom prst="rect">
            <a:avLst/>
          </a:prstGeom>
          <a:solidFill>
            <a:srgbClr val="FF99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3" name="Rectangle 19"/>
          <p:cNvSpPr>
            <a:spLocks noChangeArrowheads="1"/>
          </p:cNvSpPr>
          <p:nvPr/>
        </p:nvSpPr>
        <p:spPr bwMode="auto">
          <a:xfrm rot="10800000">
            <a:off x="8534400" y="5638800"/>
            <a:ext cx="304800" cy="304800"/>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4" name="Rectangle 20"/>
          <p:cNvSpPr>
            <a:spLocks noChangeArrowheads="1"/>
          </p:cNvSpPr>
          <p:nvPr/>
        </p:nvSpPr>
        <p:spPr bwMode="auto">
          <a:xfrm rot="10800000">
            <a:off x="8534400" y="5029200"/>
            <a:ext cx="304800" cy="304800"/>
          </a:xfrm>
          <a:prstGeom prst="rect">
            <a:avLst/>
          </a:prstGeom>
          <a:solidFill>
            <a:srgbClr val="FF99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grpSp>
        <p:nvGrpSpPr>
          <p:cNvPr id="7180" name="Group 22"/>
          <p:cNvGrpSpPr/>
          <p:nvPr/>
        </p:nvGrpSpPr>
        <p:grpSpPr bwMode="auto">
          <a:xfrm>
            <a:off x="0" y="533400"/>
            <a:ext cx="914400" cy="1524000"/>
            <a:chOff x="0" y="336"/>
            <a:chExt cx="576" cy="960"/>
          </a:xfrm>
        </p:grpSpPr>
        <p:sp>
          <p:nvSpPr>
            <p:cNvPr id="1047" name="Rectangle 23"/>
            <p:cNvSpPr>
              <a:spLocks noChangeArrowheads="1"/>
            </p:cNvSpPr>
            <p:nvPr userDrawn="1"/>
          </p:nvSpPr>
          <p:spPr bwMode="auto">
            <a:xfrm>
              <a:off x="0" y="336"/>
              <a:ext cx="192" cy="192"/>
            </a:xfrm>
            <a:prstGeom prst="rect">
              <a:avLst/>
            </a:prstGeom>
            <a:solidFill>
              <a:srgbClr val="FF33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8" name="Rectangle 24"/>
            <p:cNvSpPr>
              <a:spLocks noChangeArrowheads="1"/>
            </p:cNvSpPr>
            <p:nvPr userDrawn="1"/>
          </p:nvSpPr>
          <p:spPr bwMode="auto">
            <a:xfrm>
              <a:off x="384" y="1104"/>
              <a:ext cx="192" cy="192"/>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49" name="Rectangle 25"/>
            <p:cNvSpPr>
              <a:spLocks noChangeArrowheads="1"/>
            </p:cNvSpPr>
            <p:nvPr userDrawn="1"/>
          </p:nvSpPr>
          <p:spPr bwMode="auto">
            <a:xfrm>
              <a:off x="192" y="528"/>
              <a:ext cx="192" cy="192"/>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50" name="Rectangle 26"/>
            <p:cNvSpPr>
              <a:spLocks noChangeArrowheads="1"/>
            </p:cNvSpPr>
            <p:nvPr userDrawn="1"/>
          </p:nvSpPr>
          <p:spPr bwMode="auto">
            <a:xfrm>
              <a:off x="384" y="336"/>
              <a:ext cx="192" cy="192"/>
            </a:xfrm>
            <a:prstGeom prst="rect">
              <a:avLst/>
            </a:prstGeom>
            <a:solidFill>
              <a:srgbClr val="FF99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51" name="Rectangle 27"/>
            <p:cNvSpPr>
              <a:spLocks noChangeArrowheads="1"/>
            </p:cNvSpPr>
            <p:nvPr userDrawn="1"/>
          </p:nvSpPr>
          <p:spPr bwMode="auto">
            <a:xfrm>
              <a:off x="192" y="912"/>
              <a:ext cx="192" cy="192"/>
            </a:xfrm>
            <a:prstGeom prst="rect">
              <a:avLst/>
            </a:prstGeom>
            <a:solidFill>
              <a:srgbClr val="FF3300">
                <a:alpha val="38000"/>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sp>
          <p:nvSpPr>
            <p:cNvPr id="1052" name="Rectangle 28"/>
            <p:cNvSpPr>
              <a:spLocks noChangeArrowheads="1"/>
            </p:cNvSpPr>
            <p:nvPr userDrawn="1"/>
          </p:nvSpPr>
          <p:spPr bwMode="auto">
            <a:xfrm>
              <a:off x="0" y="720"/>
              <a:ext cx="192" cy="192"/>
            </a:xfrm>
            <a:prstGeom prst="rect">
              <a:avLst/>
            </a:prstGeom>
            <a:solidFill>
              <a:srgbClr val="FF9900">
                <a:alpha val="60001"/>
              </a:srgbClr>
            </a:solidFill>
            <a:ln w="9525" algn="ctr">
              <a:noFill/>
              <a:miter lim="800000"/>
            </a:ln>
            <a:effectLst/>
          </p:spPr>
          <p:txBody>
            <a:bodyPr wrap="none" anchor="ctr"/>
            <a:lstStyle/>
            <a:p>
              <a:pPr>
                <a:defRPr/>
              </a:pPr>
              <a:endParaRPr lang="zh-CN" altLang="en-US">
                <a:latin typeface="Arial" panose="020B0604020202020204" pitchFamily="34" charset="0"/>
              </a:endParaRPr>
            </a:p>
          </p:txBody>
        </p:sp>
      </p:grpSp>
      <p:sp>
        <p:nvSpPr>
          <p:cNvPr id="7181" name="Rectangle 29"/>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p>
        </p:txBody>
      </p:sp>
      <p:sp>
        <p:nvSpPr>
          <p:cNvPr id="7182" name="Rectangle 30"/>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a:solidFill>
                  <a:srgbClr val="00B0F0"/>
                </a:solidFill>
              </a:rPr>
              <a:t>第</a:t>
            </a:r>
            <a:r>
              <a:rPr lang="en-US" altLang="zh-CN" b="1">
                <a:solidFill>
                  <a:srgbClr val="00B0F0"/>
                </a:solidFill>
              </a:rPr>
              <a:t>1</a:t>
            </a:r>
            <a:r>
              <a:rPr lang="zh-CN" altLang="en-US" b="1">
                <a:solidFill>
                  <a:srgbClr val="00B0F0"/>
                </a:solidFill>
              </a:rPr>
              <a:t>篇    自动控制原理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609600"/>
            <a:ext cx="8229600" cy="1143000"/>
          </a:xfrm>
        </p:spPr>
        <p:txBody>
          <a:bodyPr/>
          <a:lstStyle/>
          <a:p>
            <a:pPr eaLnBrk="1" hangingPunct="1"/>
            <a:r>
              <a:rPr lang="zh-CN" altLang="en-US" sz="3600" b="1" smtClean="0">
                <a:latin typeface="Times New Roman" panose="02020603050405020304" pitchFamily="18" charset="0"/>
              </a:rPr>
              <a:t>第</a:t>
            </a:r>
            <a:r>
              <a:rPr lang="en-US" altLang="zh-CN" sz="3600" b="1" smtClean="0">
                <a:latin typeface="Times New Roman" panose="02020603050405020304" pitchFamily="18" charset="0"/>
              </a:rPr>
              <a:t>1</a:t>
            </a:r>
            <a:r>
              <a:rPr lang="zh-CN" altLang="en-US" sz="3600" b="1" smtClean="0">
                <a:latin typeface="Times New Roman" panose="02020603050405020304" pitchFamily="18" charset="0"/>
              </a:rPr>
              <a:t>篇 自动控制原理</a:t>
            </a:r>
          </a:p>
        </p:txBody>
      </p:sp>
      <p:sp>
        <p:nvSpPr>
          <p:cNvPr id="8195" name="Rectangle 3"/>
          <p:cNvSpPr>
            <a:spLocks noGrp="1" noChangeArrowheads="1"/>
          </p:cNvSpPr>
          <p:nvPr>
            <p:ph type="body" idx="1"/>
          </p:nvPr>
        </p:nvSpPr>
        <p:spPr>
          <a:xfrm>
            <a:off x="832485" y="2514600"/>
            <a:ext cx="7488555" cy="3992880"/>
          </a:xfrm>
        </p:spPr>
        <p:txBody>
          <a:bodyPr/>
          <a:lstStyle/>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1</a:t>
            </a:r>
            <a:r>
              <a:rPr lang="zh-CN" altLang="en-US" sz="2800" dirty="0" smtClean="0">
                <a:latin typeface="Times New Roman" panose="02020603050405020304" pitchFamily="18" charset="0"/>
              </a:rPr>
              <a:t>章  自动控制系统概述</a:t>
            </a:r>
          </a:p>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2</a:t>
            </a:r>
            <a:r>
              <a:rPr lang="zh-CN" altLang="en-US" sz="2800" dirty="0" smtClean="0">
                <a:latin typeface="Times New Roman" panose="02020603050405020304" pitchFamily="18" charset="0"/>
              </a:rPr>
              <a:t>章  拉普拉斯变换及其应用</a:t>
            </a:r>
          </a:p>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3</a:t>
            </a:r>
            <a:r>
              <a:rPr lang="zh-CN" altLang="en-US" sz="2800" dirty="0" smtClean="0">
                <a:latin typeface="Times New Roman" panose="02020603050405020304" pitchFamily="18" charset="0"/>
              </a:rPr>
              <a:t>章  自动控制系统的数学模型</a:t>
            </a:r>
          </a:p>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4</a:t>
            </a:r>
            <a:r>
              <a:rPr lang="zh-CN" altLang="en-US" sz="2800" dirty="0" smtClean="0">
                <a:latin typeface="Times New Roman" panose="02020603050405020304" pitchFamily="18" charset="0"/>
              </a:rPr>
              <a:t>章  分析自动控制系统性能常用的方法</a:t>
            </a:r>
          </a:p>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5</a:t>
            </a:r>
            <a:r>
              <a:rPr lang="zh-CN" altLang="en-US" sz="2800" dirty="0" smtClean="0">
                <a:latin typeface="Times New Roman" panose="02020603050405020304" pitchFamily="18" charset="0"/>
              </a:rPr>
              <a:t>章  自动控制系统的性能分析</a:t>
            </a:r>
            <a:endParaRPr lang="en-US" altLang="zh-CN" sz="2800" dirty="0" smtClean="0">
              <a:latin typeface="Times New Roman" panose="02020603050405020304" pitchFamily="18" charset="0"/>
            </a:endParaRPr>
          </a:p>
          <a:p>
            <a:pPr eaLnBrk="1" hangingPunct="1">
              <a:spcBef>
                <a:spcPct val="50000"/>
              </a:spcBef>
            </a:pPr>
            <a:r>
              <a:rPr lang="zh-CN" altLang="en-US" sz="2800" dirty="0" smtClean="0">
                <a:latin typeface="Times New Roman" panose="02020603050405020304" pitchFamily="18" charset="0"/>
              </a:rPr>
              <a:t>第</a:t>
            </a:r>
            <a:r>
              <a:rPr lang="en-US" altLang="zh-CN" sz="2800" dirty="0" smtClean="0">
                <a:latin typeface="Times New Roman" panose="02020603050405020304" pitchFamily="18" charset="0"/>
              </a:rPr>
              <a:t>6</a:t>
            </a:r>
            <a:r>
              <a:rPr lang="zh-CN" altLang="en-US" sz="2800" dirty="0" smtClean="0">
                <a:latin typeface="Times New Roman" panose="02020603050405020304" pitchFamily="18" charset="0"/>
              </a:rPr>
              <a:t>章  自动控制系统的校正（改善系统性能的途径）</a:t>
            </a:r>
            <a:endParaRPr lang="en-US" altLang="zh-CN" sz="2800" dirty="0" smtClean="0">
              <a:latin typeface="Times New Roman" panose="02020603050405020304" pitchFamily="18" charset="0"/>
            </a:endParaRPr>
          </a:p>
        </p:txBody>
      </p:sp>
      <p:sp>
        <p:nvSpPr>
          <p:cNvPr id="8196" name="Rectangle 4"/>
          <p:cNvSpPr>
            <a:spLocks noChangeArrowheads="1"/>
          </p:cNvSpPr>
          <p:nvPr/>
        </p:nvSpPr>
        <p:spPr bwMode="auto">
          <a:xfrm>
            <a:off x="3505200" y="1752600"/>
            <a:ext cx="21526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3200"/>
              <a:t>主要内容</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609600"/>
            <a:ext cx="8229600" cy="1143000"/>
          </a:xfrm>
        </p:spPr>
        <p:txBody>
          <a:bodyPr/>
          <a:lstStyle/>
          <a:p>
            <a:pPr eaLnBrk="1" hangingPunct="1"/>
            <a:r>
              <a:rPr lang="zh-CN" altLang="en-US" sz="3600" smtClean="0">
                <a:latin typeface="Times New Roman" panose="02020603050405020304" pitchFamily="18" charset="0"/>
              </a:rPr>
              <a:t>第一章 自动控制系统概述</a:t>
            </a:r>
          </a:p>
        </p:txBody>
      </p:sp>
      <p:sp>
        <p:nvSpPr>
          <p:cNvPr id="8195" name="Rectangle 3"/>
          <p:cNvSpPr>
            <a:spLocks noGrp="1" noChangeArrowheads="1"/>
          </p:cNvSpPr>
          <p:nvPr>
            <p:ph type="body" idx="1"/>
          </p:nvPr>
        </p:nvSpPr>
        <p:spPr>
          <a:xfrm>
            <a:off x="1143000" y="2514600"/>
            <a:ext cx="6858000" cy="3992563"/>
          </a:xfrm>
        </p:spPr>
        <p:txBody>
          <a:bodyPr/>
          <a:lstStyle/>
          <a:p>
            <a:pPr eaLnBrk="1" hangingPunct="1">
              <a:spcBef>
                <a:spcPct val="50000"/>
              </a:spcBef>
            </a:pPr>
            <a:r>
              <a:rPr lang="zh-CN" altLang="en-US" sz="2800" dirty="0" smtClean="0">
                <a:latin typeface="Times New Roman" panose="02020603050405020304" pitchFamily="18" charset="0"/>
              </a:rPr>
              <a:t>第一节  引言</a:t>
            </a:r>
          </a:p>
          <a:p>
            <a:pPr eaLnBrk="1" hangingPunct="1">
              <a:spcBef>
                <a:spcPct val="50000"/>
              </a:spcBef>
            </a:pPr>
            <a:r>
              <a:rPr lang="zh-CN" altLang="en-US" sz="2800" dirty="0" smtClean="0">
                <a:latin typeface="Times New Roman" panose="02020603050405020304" pitchFamily="18" charset="0"/>
              </a:rPr>
              <a:t>第二节  开环控制和闭环控制</a:t>
            </a:r>
          </a:p>
          <a:p>
            <a:pPr eaLnBrk="1" hangingPunct="1">
              <a:spcBef>
                <a:spcPct val="50000"/>
              </a:spcBef>
            </a:pPr>
            <a:r>
              <a:rPr lang="zh-CN" altLang="en-US" sz="2800" dirty="0" smtClean="0">
                <a:latin typeface="Times New Roman" panose="02020603050405020304" pitchFamily="18" charset="0"/>
              </a:rPr>
              <a:t>第三节  自动控制系统的组成</a:t>
            </a:r>
          </a:p>
          <a:p>
            <a:pPr eaLnBrk="1" hangingPunct="1">
              <a:spcBef>
                <a:spcPct val="50000"/>
              </a:spcBef>
            </a:pPr>
            <a:r>
              <a:rPr lang="zh-CN" altLang="en-US" sz="2800" dirty="0" smtClean="0">
                <a:latin typeface="Times New Roman" panose="02020603050405020304" pitchFamily="18" charset="0"/>
              </a:rPr>
              <a:t>第四节  自动控制系统的分类</a:t>
            </a:r>
          </a:p>
          <a:p>
            <a:pPr eaLnBrk="1" hangingPunct="1">
              <a:spcBef>
                <a:spcPct val="50000"/>
              </a:spcBef>
            </a:pPr>
            <a:r>
              <a:rPr lang="zh-CN" altLang="en-US" sz="2800" dirty="0" smtClean="0">
                <a:latin typeface="Times New Roman" panose="02020603050405020304" pitchFamily="18" charset="0"/>
              </a:rPr>
              <a:t>第五节  自动控制系统的性能指标</a:t>
            </a:r>
            <a:endParaRPr lang="en-US" altLang="zh-CN" sz="2800" dirty="0" smtClean="0">
              <a:latin typeface="Times New Roman" panose="02020603050405020304" pitchFamily="18" charset="0"/>
            </a:endParaRPr>
          </a:p>
          <a:p>
            <a:pPr eaLnBrk="1" hangingPunct="1">
              <a:spcBef>
                <a:spcPct val="50000"/>
              </a:spcBef>
            </a:pPr>
            <a:r>
              <a:rPr lang="zh-CN" altLang="en-US" sz="2800" dirty="0" smtClean="0">
                <a:latin typeface="Times New Roman" panose="02020603050405020304" pitchFamily="18" charset="0"/>
              </a:rPr>
              <a:t>第六节  研究自动控制系统的方法</a:t>
            </a:r>
          </a:p>
          <a:p>
            <a:pPr eaLnBrk="1" hangingPunct="1"/>
            <a:endParaRPr lang="en-US" altLang="zh-CN" sz="2800" dirty="0" smtClean="0">
              <a:latin typeface="Times New Roman" panose="02020603050405020304" pitchFamily="18" charset="0"/>
            </a:endParaRPr>
          </a:p>
        </p:txBody>
      </p:sp>
      <p:sp>
        <p:nvSpPr>
          <p:cNvPr id="8196" name="Rectangle 4"/>
          <p:cNvSpPr>
            <a:spLocks noChangeArrowheads="1"/>
          </p:cNvSpPr>
          <p:nvPr/>
        </p:nvSpPr>
        <p:spPr bwMode="auto">
          <a:xfrm>
            <a:off x="3505200" y="1752600"/>
            <a:ext cx="21526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3200"/>
              <a:t>主要内容</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2"/>
          <p:cNvSpPr>
            <a:spLocks noGrp="1" noChangeArrowheads="1"/>
          </p:cNvSpPr>
          <p:nvPr>
            <p:ph type="title"/>
          </p:nvPr>
        </p:nvSpPr>
        <p:spPr>
          <a:xfrm>
            <a:off x="533400" y="685800"/>
            <a:ext cx="8229600" cy="715963"/>
          </a:xfrm>
          <a:noFill/>
        </p:spPr>
        <p:txBody>
          <a:bodyPr/>
          <a:lstStyle/>
          <a:p>
            <a:pPr eaLnBrk="1" hangingPunct="1"/>
            <a:r>
              <a:rPr lang="zh-CN" altLang="en-US" sz="3600" smtClean="0">
                <a:solidFill>
                  <a:schemeClr val="tx1"/>
                </a:solidFill>
              </a:rPr>
              <a:t>第一节  引言</a:t>
            </a:r>
          </a:p>
        </p:txBody>
      </p:sp>
      <p:sp>
        <p:nvSpPr>
          <p:cNvPr id="4099" name="Rectangle 13"/>
          <p:cNvSpPr>
            <a:spLocks noGrp="1" noChangeArrowheads="1"/>
          </p:cNvSpPr>
          <p:nvPr>
            <p:ph type="body" sz="half" idx="1"/>
          </p:nvPr>
        </p:nvSpPr>
        <p:spPr>
          <a:xfrm>
            <a:off x="533400" y="1676400"/>
            <a:ext cx="8153400" cy="4724400"/>
          </a:xfrm>
        </p:spPr>
        <p:txBody>
          <a:bodyPr/>
          <a:lstStyle/>
          <a:p>
            <a:pPr marL="0" algn="just" eaLnBrk="1" latinLnBrk="0" hangingPunct="1">
              <a:lnSpc>
                <a:spcPct val="120000"/>
              </a:lnSpc>
              <a:spcBef>
                <a:spcPts val="1200"/>
              </a:spcBef>
              <a:buFontTx/>
              <a:buNone/>
              <a:defRPr/>
            </a:pPr>
            <a:r>
              <a:rPr kumimoji="1" lang="en-US" altLang="zh-CN" sz="2400" dirty="0" smtClean="0">
                <a:latin typeface="宋体" panose="02010600030101010101" pitchFamily="2" charset="-122"/>
              </a:rPr>
              <a:t>     </a:t>
            </a:r>
            <a:r>
              <a:rPr lang="zh-CN" altLang="en-US" dirty="0" smtClean="0">
                <a:latin typeface="+mn-ea"/>
              </a:rPr>
              <a:t>在工业、农业、交通运输和国防各个方面，凡要求较高的场合，都离不开自动控制。</a:t>
            </a:r>
            <a:r>
              <a:rPr lang="zh-CN" altLang="en-US" b="1" dirty="0" smtClean="0">
                <a:latin typeface="+mn-ea"/>
              </a:rPr>
              <a:t>所谓自动控制，就是在没有人直接参与的情况下，利用控制装置，对生产过程、工艺参数、目标要求等进行自动的调节与控制，使之按照预定的方案达到要求的指标。</a:t>
            </a:r>
            <a:r>
              <a:rPr lang="zh-CN" altLang="en-US" dirty="0" smtClean="0">
                <a:latin typeface="+mn-ea"/>
              </a:rPr>
              <a:t>自动控制系统性能的优劣，将直接影响到产品的产量、质量、成本、劳动条件和预期目标的完成。</a:t>
            </a:r>
            <a:endParaRPr kumimoji="1" lang="zh-CN" altLang="en-US" dirty="0" smtClean="0">
              <a:latin typeface="+mn-ea"/>
            </a:endParaRPr>
          </a:p>
          <a:p>
            <a:pPr marL="0" algn="just" eaLnBrk="1" hangingPunct="1">
              <a:spcBef>
                <a:spcPct val="35000"/>
              </a:spcBef>
              <a:buFontTx/>
              <a:buNone/>
              <a:defRPr/>
            </a:pPr>
            <a:r>
              <a:rPr kumimoji="1" lang="zh-CN" altLang="en-US" dirty="0" smtClean="0"/>
              <a:t>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457200" y="1524000"/>
            <a:ext cx="8229600" cy="4267200"/>
          </a:xfrm>
        </p:spPr>
        <p:txBody>
          <a:bodyPr/>
          <a:lstStyle/>
          <a:p>
            <a:pPr marL="0" algn="just" eaLnBrk="1" latinLnBrk="0" hangingPunct="1">
              <a:lnSpc>
                <a:spcPct val="120000"/>
              </a:lnSpc>
              <a:spcBef>
                <a:spcPts val="0"/>
              </a:spcBef>
              <a:buFontTx/>
              <a:buNone/>
              <a:defRPr/>
            </a:pPr>
            <a:r>
              <a:rPr lang="zh-CN" altLang="en-US" sz="2800" dirty="0" smtClean="0">
                <a:latin typeface="新宋体" panose="02010609030101010101" pitchFamily="49" charset="-122"/>
                <a:ea typeface="新宋体" panose="02010609030101010101" pitchFamily="49" charset="-122"/>
              </a:rPr>
              <a:t>    </a:t>
            </a:r>
            <a:r>
              <a:rPr lang="zh-CN" altLang="en-US" sz="2800" dirty="0" smtClean="0">
                <a:latin typeface="+mn-ea"/>
              </a:rPr>
              <a:t>到</a:t>
            </a:r>
            <a:r>
              <a:rPr lang="en-US" altLang="zh-CN" sz="2800" dirty="0" smtClean="0">
                <a:latin typeface="+mn-ea"/>
              </a:rPr>
              <a:t>70</a:t>
            </a:r>
            <a:r>
              <a:rPr lang="zh-CN" altLang="en-US" sz="2800" dirty="0" smtClean="0">
                <a:latin typeface="+mn-ea"/>
              </a:rPr>
              <a:t>年代及以后，随着微电子技术和计算机技术的迅猛发展，相继出现了大型多功能数控机床、数控加工中心、机械手、机器人等机电一体化的高新设备；近年来，由于新器件的涌现和计算机控制技术的发展，在电力拖动控制方面，原先的晶闸管器件已逐渐被</a:t>
            </a:r>
            <a:r>
              <a:rPr lang="en-US" altLang="zh-CN" sz="2800" dirty="0" smtClean="0">
                <a:latin typeface="+mn-ea"/>
              </a:rPr>
              <a:t>MOSFET</a:t>
            </a:r>
            <a:r>
              <a:rPr lang="zh-CN" altLang="en-US" sz="2800" dirty="0" smtClean="0">
                <a:latin typeface="+mn-ea"/>
              </a:rPr>
              <a:t>与</a:t>
            </a:r>
            <a:r>
              <a:rPr lang="en-US" altLang="zh-CN" sz="2800" dirty="0" smtClean="0">
                <a:latin typeface="+mn-ea"/>
              </a:rPr>
              <a:t>IGBT</a:t>
            </a:r>
            <a:r>
              <a:rPr lang="zh-CN" altLang="en-US" sz="2800" dirty="0" smtClean="0">
                <a:latin typeface="+mn-ea"/>
              </a:rPr>
              <a:t>所取代，相位控制逐渐被脉宽调制</a:t>
            </a:r>
            <a:r>
              <a:rPr lang="en-US" altLang="zh-CN" sz="2800" dirty="0" smtClean="0">
                <a:latin typeface="+mn-ea"/>
              </a:rPr>
              <a:t>(PWM)</a:t>
            </a:r>
            <a:r>
              <a:rPr lang="zh-CN" altLang="en-US" sz="2800" dirty="0" smtClean="0">
                <a:latin typeface="+mn-ea"/>
              </a:rPr>
              <a:t>控制取代。</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457200" y="1295400"/>
            <a:ext cx="8229600" cy="4495800"/>
          </a:xfrm>
        </p:spPr>
        <p:txBody>
          <a:bodyPr/>
          <a:lstStyle/>
          <a:p>
            <a:pPr marL="0" algn="just" eaLnBrk="1" latinLnBrk="0" hangingPunct="1">
              <a:lnSpc>
                <a:spcPct val="120000"/>
              </a:lnSpc>
              <a:spcBef>
                <a:spcPts val="0"/>
              </a:spcBef>
              <a:buFontTx/>
              <a:buNone/>
              <a:defRPr/>
            </a:pPr>
            <a:r>
              <a:rPr lang="zh-CN" altLang="en-US" sz="2800" dirty="0" smtClean="0">
                <a:latin typeface="新宋体" panose="02010609030101010101" pitchFamily="49" charset="-122"/>
                <a:ea typeface="新宋体" panose="02010609030101010101" pitchFamily="49" charset="-122"/>
              </a:rPr>
              <a:t>     模拟控制逐渐被数字控制取代，直流调速</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与伺服</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逐渐被交流调速</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与伺服</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取代；在生产制造技术方面，相继出现了计算机辅助设计</a:t>
            </a:r>
            <a:r>
              <a:rPr lang="en-US" altLang="zh-CN" sz="2800" dirty="0" smtClean="0">
                <a:latin typeface="Times New Roman" panose="02020603050405020304" pitchFamily="18" charset="0"/>
                <a:ea typeface="新宋体" panose="02010609030101010101" pitchFamily="49" charset="-122"/>
              </a:rPr>
              <a:t>CAD</a:t>
            </a:r>
            <a:r>
              <a:rPr lang="en-US" altLang="zh-CN" sz="2800" dirty="0" smtClean="0">
                <a:latin typeface="新宋体" panose="02010609030101010101" pitchFamily="49" charset="-122"/>
                <a:ea typeface="新宋体" panose="02010609030101010101" pitchFamily="49" charset="-122"/>
              </a:rPr>
              <a:t>(</a:t>
            </a:r>
            <a:r>
              <a:rPr lang="en-US" altLang="zh-CN" sz="2800" dirty="0" smtClean="0">
                <a:latin typeface="Times New Roman" panose="02020603050405020304" pitchFamily="18" charset="0"/>
                <a:ea typeface="新宋体" panose="02010609030101010101" pitchFamily="49" charset="-122"/>
              </a:rPr>
              <a:t>Computer Aided Design</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、计算机辅助制造</a:t>
            </a:r>
            <a:r>
              <a:rPr lang="en-US" altLang="zh-CN" sz="2800" dirty="0" smtClean="0">
                <a:latin typeface="Times New Roman" panose="02020603050405020304" pitchFamily="18" charset="0"/>
                <a:ea typeface="新宋体" panose="02010609030101010101" pitchFamily="49" charset="-122"/>
              </a:rPr>
              <a:t>CAM</a:t>
            </a:r>
            <a:r>
              <a:rPr lang="en-US" altLang="zh-CN" sz="2800" dirty="0" smtClean="0">
                <a:latin typeface="新宋体" panose="02010609030101010101" pitchFamily="49" charset="-122"/>
                <a:ea typeface="新宋体" panose="02010609030101010101" pitchFamily="49" charset="-122"/>
              </a:rPr>
              <a:t>(</a:t>
            </a:r>
            <a:r>
              <a:rPr lang="en-US" altLang="zh-CN" sz="2800" dirty="0" smtClean="0">
                <a:latin typeface="Times New Roman" panose="02020603050405020304" pitchFamily="18" charset="0"/>
                <a:ea typeface="新宋体" panose="02010609030101010101" pitchFamily="49" charset="-122"/>
              </a:rPr>
              <a:t>Computer Aided Manufacturing</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、柔性制造系统</a:t>
            </a:r>
            <a:r>
              <a:rPr lang="en-US" altLang="zh-CN" sz="2800" dirty="0" smtClean="0">
                <a:latin typeface="Times New Roman" panose="02020603050405020304" pitchFamily="18" charset="0"/>
                <a:ea typeface="新宋体" panose="02010609030101010101" pitchFamily="49" charset="-122"/>
              </a:rPr>
              <a:t>FMS</a:t>
            </a:r>
            <a:r>
              <a:rPr lang="en-US" altLang="zh-CN" sz="2800" dirty="0" smtClean="0">
                <a:latin typeface="新宋体" panose="02010609030101010101" pitchFamily="49" charset="-122"/>
                <a:ea typeface="新宋体" panose="02010609030101010101" pitchFamily="49" charset="-122"/>
              </a:rPr>
              <a:t>(</a:t>
            </a:r>
            <a:r>
              <a:rPr lang="en-US" altLang="zh-CN" sz="2800" dirty="0" smtClean="0">
                <a:latin typeface="Times New Roman" panose="02020603050405020304" pitchFamily="18" charset="0"/>
                <a:ea typeface="新宋体" panose="02010609030101010101" pitchFamily="49" charset="-122"/>
              </a:rPr>
              <a:t>Flexible Manufacturing System</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、虚拟制造系统</a:t>
            </a:r>
            <a:r>
              <a:rPr lang="en-US" altLang="zh-CN" sz="2800" dirty="0" smtClean="0">
                <a:latin typeface="Times New Roman" panose="02020603050405020304" pitchFamily="18" charset="0"/>
                <a:ea typeface="新宋体" panose="02010609030101010101" pitchFamily="49" charset="-122"/>
              </a:rPr>
              <a:t>VMS</a:t>
            </a:r>
            <a:r>
              <a:rPr lang="en-US" altLang="zh-CN" sz="2800" dirty="0" smtClean="0">
                <a:latin typeface="新宋体" panose="02010609030101010101" pitchFamily="49" charset="-122"/>
                <a:ea typeface="新宋体" panose="02010609030101010101" pitchFamily="49" charset="-122"/>
              </a:rPr>
              <a:t>(</a:t>
            </a:r>
            <a:r>
              <a:rPr lang="en-US" altLang="zh-CN" sz="2800" dirty="0" smtClean="0">
                <a:latin typeface="Times New Roman" panose="02020603050405020304" pitchFamily="18" charset="0"/>
                <a:ea typeface="新宋体" panose="02010609030101010101" pitchFamily="49" charset="-122"/>
              </a:rPr>
              <a:t>Virtual Manufacturing System</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和计算机集成制造系统</a:t>
            </a:r>
            <a:r>
              <a:rPr lang="en-US" altLang="zh-CN" sz="2800" dirty="0" smtClean="0">
                <a:latin typeface="Times New Roman" panose="02020603050405020304" pitchFamily="18" charset="0"/>
                <a:ea typeface="新宋体" panose="02010609030101010101" pitchFamily="49" charset="-122"/>
              </a:rPr>
              <a:t>CIMS</a:t>
            </a:r>
            <a:r>
              <a:rPr lang="en-US" altLang="zh-CN" sz="2800" dirty="0" smtClean="0">
                <a:latin typeface="新宋体" panose="02010609030101010101" pitchFamily="49" charset="-122"/>
                <a:ea typeface="新宋体" panose="02010609030101010101" pitchFamily="49" charset="-122"/>
              </a:rPr>
              <a:t>(</a:t>
            </a:r>
            <a:r>
              <a:rPr lang="en-US" altLang="zh-CN" sz="2800" dirty="0" smtClean="0">
                <a:latin typeface="Times New Roman" panose="02020603050405020304" pitchFamily="18" charset="0"/>
                <a:ea typeface="新宋体" panose="02010609030101010101" pitchFamily="49" charset="-122"/>
              </a:rPr>
              <a:t>Computer Integration Manufacturing System</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等高新技术。</a:t>
            </a:r>
            <a:endParaRPr lang="zh-CN" altLang="en-US" sz="2800" dirty="0" smtClean="0">
              <a:latin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内容占位符 6" descr="2345_image_file_copy_2.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089025"/>
            <a:ext cx="5038725" cy="5040313"/>
          </a:xfrm>
        </p:spPr>
      </p:pic>
      <p:sp>
        <p:nvSpPr>
          <p:cNvPr id="12291" name="文本占位符 5"/>
          <p:cNvSpPr>
            <a:spLocks noGrp="1"/>
          </p:cNvSpPr>
          <p:nvPr>
            <p:ph type="body" sz="half" idx="2"/>
          </p:nvPr>
        </p:nvSpPr>
        <p:spPr/>
        <p:txBody>
          <a:bodyPr/>
          <a:lstStyle/>
          <a:p>
            <a:pPr>
              <a:buFontTx/>
              <a:buChar char="•"/>
            </a:pPr>
            <a:r>
              <a:rPr lang="zh-CN" altLang="en-US" sz="2800" smtClean="0"/>
              <a:t>大型加工机床的精密控制。</a:t>
            </a:r>
            <a:endParaRPr lang="en-US" altLang="zh-CN" sz="2800" smtClean="0"/>
          </a:p>
          <a:p>
            <a:pPr>
              <a:buFontTx/>
              <a:buChar char="•"/>
            </a:pPr>
            <a:r>
              <a:rPr lang="en-US" altLang="zh-CN" sz="2800" smtClean="0">
                <a:latin typeface="Times New Roman" panose="02020603050405020304" pitchFamily="18" charset="0"/>
              </a:rPr>
              <a:t>TK69</a:t>
            </a:r>
            <a:r>
              <a:rPr lang="zh-CN" altLang="en-US" sz="2800" smtClean="0"/>
              <a:t>数控型</a:t>
            </a:r>
            <a:br>
              <a:rPr lang="zh-CN" altLang="en-US" sz="2800" smtClean="0"/>
            </a:br>
            <a:r>
              <a:rPr lang="en-US" altLang="zh-CN" sz="2800" smtClean="0"/>
              <a:t>(</a:t>
            </a:r>
            <a:r>
              <a:rPr lang="en-US" altLang="zh-CN" sz="2800" smtClean="0">
                <a:latin typeface="Times New Roman" panose="02020603050405020304" pitchFamily="18" charset="0"/>
              </a:rPr>
              <a:t>FLOOR-TYPE NC MILLING-BORING MACHINE</a:t>
            </a:r>
            <a:r>
              <a:rPr lang="en-US" altLang="zh-CN" sz="2800" smtClean="0"/>
              <a:t>)</a:t>
            </a:r>
            <a:br>
              <a:rPr lang="en-US" altLang="zh-CN" sz="2800" smtClean="0"/>
            </a:br>
            <a:r>
              <a:rPr lang="en-US" altLang="zh-CN" sz="2800" smtClean="0">
                <a:latin typeface="Times New Roman" panose="02020603050405020304" pitchFamily="18" charset="0"/>
              </a:rPr>
              <a:t>TK69</a:t>
            </a:r>
            <a:r>
              <a:rPr lang="zh-CN" altLang="en-US" sz="2800" smtClean="0"/>
              <a:t>加工中心型</a:t>
            </a:r>
          </a:p>
          <a:p>
            <a:endParaRPr lang="zh-CN" altLang="en-US"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内容占位符 6" descr="2345_image_file_copy_3.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089025"/>
            <a:ext cx="5038725" cy="5040313"/>
          </a:xfrm>
        </p:spPr>
      </p:pic>
      <p:sp>
        <p:nvSpPr>
          <p:cNvPr id="6" name="文本占位符 5"/>
          <p:cNvSpPr>
            <a:spLocks noGrp="1"/>
          </p:cNvSpPr>
          <p:nvPr>
            <p:ph type="body" sz="half" idx="2"/>
          </p:nvPr>
        </p:nvSpPr>
        <p:spPr/>
        <p:txBody>
          <a:bodyPr/>
          <a:lstStyle/>
          <a:p>
            <a:pPr>
              <a:buFont typeface="Arial" panose="020B0604020202020204" pitchFamily="34" charset="0"/>
              <a:buChar char="•"/>
              <a:defRPr/>
            </a:pPr>
            <a:r>
              <a:rPr lang="zh-CN" altLang="en-US" sz="2800" dirty="0" smtClean="0">
                <a:latin typeface="+mn-ea"/>
              </a:rPr>
              <a:t>这是由数控机床群构成的生产线</a:t>
            </a:r>
            <a:r>
              <a:rPr lang="en-US" altLang="zh-CN" sz="2800" dirty="0" smtClean="0">
                <a:latin typeface="+mn-ea"/>
              </a:rPr>
              <a:t>——</a:t>
            </a:r>
            <a:r>
              <a:rPr lang="zh-CN" altLang="en-US" sz="2800" dirty="0" smtClean="0">
                <a:latin typeface="+mn-ea"/>
              </a:rPr>
              <a:t>由自动控制保证产品的加工精度。</a:t>
            </a:r>
            <a:endParaRPr lang="en-US" altLang="zh-CN" sz="2800" dirty="0" smtClean="0">
              <a:latin typeface="+mn-ea"/>
            </a:endParaRPr>
          </a:p>
          <a:p>
            <a:pPr>
              <a:buFont typeface="Arial" panose="020B0604020202020204" pitchFamily="34" charset="0"/>
              <a:buChar char="•"/>
              <a:defRPr/>
            </a:pPr>
            <a:r>
              <a:rPr lang="zh-CN" altLang="en-US" sz="2800" dirty="0" smtClean="0">
                <a:latin typeface="+mn-ea"/>
              </a:rPr>
              <a:t>其主轴为恒值控制</a:t>
            </a:r>
            <a:r>
              <a:rPr lang="en-US" altLang="zh-CN" sz="2800" dirty="0" smtClean="0">
                <a:latin typeface="+mn-ea"/>
              </a:rPr>
              <a:t>(</a:t>
            </a:r>
            <a:r>
              <a:rPr lang="zh-CN" altLang="en-US" sz="2800" dirty="0" smtClean="0">
                <a:latin typeface="+mn-ea"/>
              </a:rPr>
              <a:t>恒速</a:t>
            </a:r>
            <a:r>
              <a:rPr lang="en-US" altLang="zh-CN" sz="2800" dirty="0" smtClean="0">
                <a:latin typeface="+mn-ea"/>
              </a:rPr>
              <a:t>)</a:t>
            </a:r>
            <a:r>
              <a:rPr lang="zh-CN" altLang="en-US" sz="2800" dirty="0" smtClean="0">
                <a:latin typeface="+mn-ea"/>
              </a:rPr>
              <a:t>，刀架为随动系统</a:t>
            </a:r>
            <a:r>
              <a:rPr lang="en-US" altLang="zh-CN" sz="2800" dirty="0" smtClean="0">
                <a:latin typeface="+mn-ea"/>
              </a:rPr>
              <a:t>(</a:t>
            </a:r>
            <a:r>
              <a:rPr lang="zh-CN" altLang="en-US" sz="2800" dirty="0" smtClean="0">
                <a:latin typeface="+mn-ea"/>
              </a:rPr>
              <a:t>精确定位</a:t>
            </a:r>
            <a:r>
              <a:rPr lang="en-US" altLang="zh-CN" sz="2800" dirty="0" smtClean="0">
                <a:latin typeface="+mn-ea"/>
              </a:rPr>
              <a:t>)</a:t>
            </a:r>
            <a:r>
              <a:rPr lang="zh-CN" altLang="en-US" sz="2800" dirty="0" smtClean="0">
                <a:latin typeface="+mn-ea"/>
              </a:rPr>
              <a:t>。</a:t>
            </a:r>
          </a:p>
          <a:p>
            <a:pPr>
              <a:defRPr/>
            </a:pP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内容占位符 6" descr="2345_image_file_copy_4.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089025"/>
            <a:ext cx="5038725" cy="5040313"/>
          </a:xfrm>
        </p:spPr>
      </p:pic>
      <p:sp>
        <p:nvSpPr>
          <p:cNvPr id="14339" name="文本占位符 5"/>
          <p:cNvSpPr>
            <a:spLocks noGrp="1"/>
          </p:cNvSpPr>
          <p:nvPr>
            <p:ph type="body" sz="half" idx="2"/>
          </p:nvPr>
        </p:nvSpPr>
        <p:spPr/>
        <p:txBody>
          <a:bodyPr/>
          <a:lstStyle/>
          <a:p>
            <a:pPr>
              <a:buFontTx/>
              <a:buChar char="•"/>
            </a:pPr>
            <a:r>
              <a:rPr lang="zh-CN" altLang="en-US" sz="2800" smtClean="0"/>
              <a:t>加工中心</a:t>
            </a:r>
            <a:r>
              <a:rPr lang="en-US" altLang="zh-CN" sz="2800" smtClean="0"/>
              <a:t>——</a:t>
            </a:r>
            <a:r>
              <a:rPr lang="zh-CN" altLang="en-US" sz="2800" smtClean="0"/>
              <a:t>往往含有车、铣、钻等多种功能，有刀具库，能自动换刀等。各厂生产含有各种不同功能的加工中心。</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内容占位符 6" descr="2345_image_file_copy_5.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089025"/>
            <a:ext cx="5038725" cy="5040313"/>
          </a:xfrm>
        </p:spPr>
      </p:pic>
      <p:sp>
        <p:nvSpPr>
          <p:cNvPr id="15363" name="文本占位符 5"/>
          <p:cNvSpPr>
            <a:spLocks noGrp="1"/>
          </p:cNvSpPr>
          <p:nvPr>
            <p:ph type="body" sz="half" idx="2"/>
          </p:nvPr>
        </p:nvSpPr>
        <p:spPr/>
        <p:txBody>
          <a:bodyPr/>
          <a:lstStyle/>
          <a:p>
            <a:pPr>
              <a:buFontTx/>
              <a:buChar char="•"/>
            </a:pPr>
            <a:r>
              <a:rPr lang="zh-CN" altLang="en-US" sz="2800" smtClean="0"/>
              <a:t>带有机械手的点焊生产线</a:t>
            </a:r>
            <a:r>
              <a:rPr lang="en-US" altLang="zh-CN" sz="2800" smtClean="0"/>
              <a:t>(</a:t>
            </a:r>
            <a:r>
              <a:rPr lang="zh-CN" altLang="en-US" sz="2800" smtClean="0"/>
              <a:t>大批量铆焊加工生产线</a:t>
            </a:r>
            <a:r>
              <a:rPr lang="en-US" altLang="zh-CN" sz="2800" smtClean="0"/>
              <a:t>)</a:t>
            </a:r>
            <a:r>
              <a:rPr lang="zh-CN" altLang="en-US" sz="2800" smtClean="0"/>
              <a:t>要能精密定位及时间控制。机器人控制</a:t>
            </a:r>
            <a:r>
              <a:rPr lang="en-US" altLang="zh-CN" sz="2800" smtClean="0"/>
              <a:t>(</a:t>
            </a:r>
            <a:r>
              <a:rPr lang="zh-CN" altLang="en-US" sz="2800" smtClean="0"/>
              <a:t>自动控制</a:t>
            </a:r>
            <a:r>
              <a:rPr lang="en-US" altLang="zh-CN" sz="2800" smtClean="0"/>
              <a:t>)</a:t>
            </a:r>
            <a:endParaRPr lang="zh-CN" altLang="en-US" sz="2800" smtClean="0"/>
          </a:p>
          <a:p>
            <a:endParaRPr lang="zh-CN" altLang="en-US"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内容占位符 6" descr="2345_image_file_copy_6.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177925"/>
            <a:ext cx="5038725" cy="5040313"/>
          </a:xfrm>
        </p:spPr>
      </p:pic>
      <p:sp>
        <p:nvSpPr>
          <p:cNvPr id="16387" name="文本占位符 5"/>
          <p:cNvSpPr>
            <a:spLocks noGrp="1"/>
          </p:cNvSpPr>
          <p:nvPr>
            <p:ph type="body" sz="half" idx="2"/>
          </p:nvPr>
        </p:nvSpPr>
        <p:spPr/>
        <p:txBody>
          <a:bodyPr/>
          <a:lstStyle/>
          <a:p>
            <a:pPr>
              <a:buFontTx/>
              <a:buChar char="•"/>
            </a:pPr>
            <a:r>
              <a:rPr lang="zh-CN" altLang="en-US" sz="2800" smtClean="0"/>
              <a:t>柔性生产线</a:t>
            </a:r>
            <a:r>
              <a:rPr lang="en-US" altLang="zh-CN" sz="2800" smtClean="0"/>
              <a:t>(</a:t>
            </a:r>
            <a:r>
              <a:rPr lang="en-US" altLang="zh-CN" sz="2800" smtClean="0">
                <a:latin typeface="Times New Roman" panose="02020603050405020304" pitchFamily="18" charset="0"/>
              </a:rPr>
              <a:t>Flexible production line</a:t>
            </a:r>
            <a:r>
              <a:rPr lang="en-US" altLang="zh-CN" sz="2800" smtClean="0"/>
              <a:t>)</a:t>
            </a:r>
            <a:r>
              <a:rPr lang="zh-CN" altLang="en-US" sz="2800" smtClean="0"/>
              <a:t>能根据不同的产品要求，通过计算机软件，迅速变更生产的程序和流程，产生出不同的产品。</a:t>
            </a:r>
          </a:p>
          <a:p>
            <a:endParaRPr lang="zh-CN" altLang="en-US"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内容占位符 6" descr="2345_image_file_copy_10.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00" y="1177925"/>
            <a:ext cx="5038725" cy="5040313"/>
          </a:xfrm>
        </p:spPr>
      </p:pic>
      <p:sp>
        <p:nvSpPr>
          <p:cNvPr id="17411" name="文本占位符 5"/>
          <p:cNvSpPr>
            <a:spLocks noGrp="1"/>
          </p:cNvSpPr>
          <p:nvPr>
            <p:ph type="body" sz="half" idx="2"/>
          </p:nvPr>
        </p:nvSpPr>
        <p:spPr/>
        <p:txBody>
          <a:bodyPr/>
          <a:lstStyle/>
          <a:p>
            <a:pPr>
              <a:buFontTx/>
              <a:buChar char="•"/>
            </a:pPr>
            <a:r>
              <a:rPr lang="zh-CN" altLang="en-US" sz="2800" smtClean="0"/>
              <a:t>缝纫机壳体柔性生产线</a:t>
            </a:r>
            <a:br>
              <a:rPr lang="zh-CN" altLang="en-US" sz="2800" smtClean="0"/>
            </a:br>
            <a:r>
              <a:rPr lang="en-US" altLang="zh-CN" sz="2800" smtClean="0"/>
              <a:t>(</a:t>
            </a:r>
            <a:r>
              <a:rPr lang="en-US" altLang="zh-CN" sz="2800" smtClean="0">
                <a:latin typeface="Times New Roman" panose="02020603050405020304" pitchFamily="18" charset="0"/>
              </a:rPr>
              <a:t>Box body flexible production line for sewing machine</a:t>
            </a:r>
            <a:r>
              <a:rPr lang="en-US" altLang="zh-CN" sz="2800" smtClean="0"/>
              <a:t>)</a:t>
            </a:r>
            <a:r>
              <a:rPr lang="zh-CN" altLang="en-US" sz="2800" smtClean="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5"/>
          <p:cNvSpPr>
            <a:spLocks noGrp="1"/>
          </p:cNvSpPr>
          <p:nvPr>
            <p:ph idx="1"/>
          </p:nvPr>
        </p:nvSpPr>
        <p:spPr/>
        <p:txBody>
          <a:bodyPr/>
          <a:lstStyle/>
          <a:p>
            <a:pPr marL="0" indent="0" latinLnBrk="0">
              <a:lnSpc>
                <a:spcPct val="130000"/>
              </a:lnSpc>
              <a:spcBef>
                <a:spcPts val="0"/>
              </a:spcBef>
              <a:buNone/>
            </a:pPr>
            <a:r>
              <a:rPr lang="zh-CN" altLang="en-US" dirty="0">
                <a:latin typeface="新宋体" panose="02010609030101010101" pitchFamily="49" charset="-122"/>
                <a:ea typeface="新宋体" panose="02010609030101010101" pitchFamily="49" charset="-122"/>
              </a:rPr>
              <a:t> </a:t>
            </a:r>
            <a:r>
              <a:rPr lang="zh-CN" altLang="en-US" dirty="0" smtClean="0">
                <a:latin typeface="新宋体" panose="02010609030101010101" pitchFamily="49" charset="-122"/>
                <a:ea typeface="新宋体" panose="02010609030101010101" pitchFamily="49" charset="-122"/>
              </a:rPr>
              <a:t>   </a:t>
            </a:r>
            <a:r>
              <a:rPr lang="zh-CN" altLang="en-US" sz="2800" dirty="0" smtClean="0">
                <a:latin typeface="新宋体" panose="02010609030101010101" pitchFamily="49" charset="-122"/>
                <a:ea typeface="新宋体" panose="02010609030101010101" pitchFamily="49" charset="-122"/>
              </a:rPr>
              <a:t>在自动控制原理方面，将以经典线性控制理论中常用的时域分析法和频域分析法为主线，叙述系统数学模型的建立，系统性能的分析</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包括系统稳定性、稳态性能和动态性能的分析</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，探讨改善系统性能的途径</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系统校正</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，并适当介绍</a:t>
            </a:r>
            <a:r>
              <a:rPr lang="en-US" altLang="zh-CN" sz="2800" dirty="0" smtClean="0">
                <a:latin typeface="新宋体" panose="02010609030101010101" pitchFamily="49" charset="-122"/>
                <a:ea typeface="新宋体" panose="02010609030101010101" pitchFamily="49" charset="-122"/>
              </a:rPr>
              <a:t>MATLAB</a:t>
            </a:r>
            <a:r>
              <a:rPr lang="zh-CN" altLang="en-US" sz="2800" dirty="0" smtClean="0">
                <a:latin typeface="新宋体" panose="02010609030101010101" pitchFamily="49" charset="-122"/>
                <a:ea typeface="新宋体" panose="02010609030101010101" pitchFamily="49" charset="-122"/>
              </a:rPr>
              <a:t>软件在系统性能分析中的应用。</a:t>
            </a:r>
            <a:endParaRPr lang="zh-CN" altLang="en-US"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5"/>
          <p:cNvSpPr>
            <a:spLocks noGrp="1"/>
          </p:cNvSpPr>
          <p:nvPr>
            <p:ph idx="1"/>
          </p:nvPr>
        </p:nvSpPr>
        <p:spPr>
          <a:xfrm>
            <a:off x="431448" y="1088688"/>
            <a:ext cx="8229600" cy="4525963"/>
          </a:xfrm>
        </p:spPr>
        <p:txBody>
          <a:bodyPr/>
          <a:lstStyle/>
          <a:p>
            <a:pPr marL="0" indent="0" latinLnBrk="0">
              <a:lnSpc>
                <a:spcPct val="120000"/>
              </a:lnSpc>
              <a:spcBef>
                <a:spcPts val="0"/>
              </a:spcBef>
              <a:buNone/>
            </a:pPr>
            <a:r>
              <a:rPr lang="zh-CN" altLang="en-US" dirty="0" smtClean="0">
                <a:latin typeface="新宋体" panose="02010609030101010101" pitchFamily="49" charset="-122"/>
                <a:ea typeface="新宋体" panose="02010609030101010101" pitchFamily="49" charset="-122"/>
              </a:rPr>
              <a:t>    </a:t>
            </a:r>
            <a:r>
              <a:rPr lang="zh-CN" altLang="en-US" sz="2800" dirty="0" smtClean="0">
                <a:latin typeface="新宋体" panose="02010609030101010101" pitchFamily="49" charset="-122"/>
                <a:ea typeface="新宋体" panose="02010609030101010101" pitchFamily="49" charset="-122"/>
              </a:rPr>
              <a:t>在自动控制系统方面，将通过典型的自动控制系统</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如水位、温度控制系统，直流调速系统，交流调速系统和位置随动系统</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和实例分析，来阐述如何分析系统的组成，怎样搞清系统的工作原理、工作特点和自动调节过程，如何建立系统的数学模型</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系统框图</a:t>
            </a:r>
            <a:r>
              <a:rPr lang="en-US" altLang="zh-CN" sz="2800" dirty="0" smtClean="0">
                <a:latin typeface="新宋体" panose="02010609030101010101" pitchFamily="49" charset="-122"/>
                <a:ea typeface="新宋体" panose="02010609030101010101" pitchFamily="49" charset="-122"/>
              </a:rPr>
              <a:t>)</a:t>
            </a:r>
            <a:r>
              <a:rPr lang="zh-CN" altLang="en-US" sz="2800" dirty="0" smtClean="0">
                <a:latin typeface="新宋体" panose="02010609030101010101" pitchFamily="49" charset="-122"/>
                <a:ea typeface="新宋体" panose="02010609030101010101" pitchFamily="49" charset="-122"/>
              </a:rPr>
              <a:t>和怎样应用自控原理来分析系统的性能，探讨改善系统性能的途径。最后还介绍了系统的调试和故障的排除。</a:t>
            </a:r>
            <a:endParaRPr lang="zh-CN" altLang="en-US" sz="2800" dirty="0" smtClean="0"/>
          </a:p>
          <a:p>
            <a:pPr marL="0"/>
            <a:endParaRPr lang="zh-CN" alt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4"/>
          <p:cNvSpPr>
            <a:spLocks noGrp="1"/>
          </p:cNvSpPr>
          <p:nvPr>
            <p:ph type="title"/>
          </p:nvPr>
        </p:nvSpPr>
        <p:spPr>
          <a:xfrm>
            <a:off x="457200" y="364173"/>
            <a:ext cx="8229600" cy="1143000"/>
          </a:xfrm>
        </p:spPr>
        <p:txBody>
          <a:bodyPr/>
          <a:lstStyle/>
          <a:p>
            <a:pPr eaLnBrk="1" hangingPunct="1">
              <a:spcBef>
                <a:spcPct val="50000"/>
              </a:spcBef>
            </a:pPr>
            <a:r>
              <a:rPr lang="zh-CN" altLang="en-US" sz="3600" dirty="0" smtClean="0">
                <a:latin typeface="Times New Roman" panose="02020603050405020304" pitchFamily="18" charset="0"/>
              </a:rPr>
              <a:t>第二节  开环控制和闭环控制</a:t>
            </a:r>
          </a:p>
        </p:txBody>
      </p:sp>
      <p:sp>
        <p:nvSpPr>
          <p:cNvPr id="20483" name="内容占位符 5"/>
          <p:cNvSpPr>
            <a:spLocks noGrp="1"/>
          </p:cNvSpPr>
          <p:nvPr>
            <p:ph idx="1"/>
          </p:nvPr>
        </p:nvSpPr>
        <p:spPr>
          <a:xfrm>
            <a:off x="457200" y="1718772"/>
            <a:ext cx="8229600" cy="4320078"/>
          </a:xfrm>
        </p:spPr>
        <p:txBody>
          <a:bodyPr/>
          <a:lstStyle/>
          <a:p>
            <a:pPr marL="0" indent="0" latinLnBrk="0">
              <a:lnSpc>
                <a:spcPct val="130000"/>
              </a:lnSpc>
              <a:spcBef>
                <a:spcPts val="0"/>
              </a:spcBef>
              <a:buNone/>
            </a:pPr>
            <a:r>
              <a:rPr lang="zh-CN" altLang="en-US" sz="2800" b="1" dirty="0" smtClean="0"/>
              <a:t>        反馈作用</a:t>
            </a:r>
            <a:r>
              <a:rPr lang="en-US" altLang="zh-CN" sz="2800" dirty="0" smtClean="0"/>
              <a:t>(</a:t>
            </a:r>
            <a:r>
              <a:rPr lang="en-US" altLang="zh-CN" sz="2800" dirty="0" smtClean="0">
                <a:latin typeface="Times New Roman" panose="02020603050405020304" pitchFamily="18" charset="0"/>
              </a:rPr>
              <a:t>Feedback</a:t>
            </a:r>
            <a:r>
              <a:rPr lang="en-US" altLang="zh-CN" sz="2800" dirty="0" smtClean="0"/>
              <a:t>)——</a:t>
            </a:r>
            <a:r>
              <a:rPr lang="zh-CN" altLang="en-US" sz="2800" dirty="0" smtClean="0"/>
              <a:t>若通过某种装置将能反映输出量的信号引回来去影响控制信号。</a:t>
            </a:r>
            <a:endParaRPr lang="en-US" altLang="zh-CN" sz="2800" dirty="0" smtClean="0"/>
          </a:p>
          <a:p>
            <a:pPr marL="0" indent="0" latinLnBrk="0">
              <a:lnSpc>
                <a:spcPct val="130000"/>
              </a:lnSpc>
              <a:spcBef>
                <a:spcPts val="0"/>
              </a:spcBef>
              <a:buNone/>
            </a:pPr>
            <a:r>
              <a:rPr lang="zh-CN" altLang="en-US" sz="2800" dirty="0" smtClean="0"/>
              <a:t>        通常按照控制系统是否设有反馈环节来进行分类：</a:t>
            </a:r>
            <a:r>
              <a:rPr lang="zh-CN" altLang="en-US" sz="2800" b="1" dirty="0" smtClean="0"/>
              <a:t>设有反馈环节的，称为闭环控制系统；不设反馈环节的，则称为开环控制系统。</a:t>
            </a:r>
            <a:r>
              <a:rPr lang="zh-CN" altLang="en-US" sz="2800" dirty="0" smtClean="0"/>
              <a:t> </a:t>
            </a:r>
            <a:r>
              <a:rPr lang="en-US" altLang="zh-CN" sz="2800" dirty="0" smtClean="0"/>
              <a:t>(</a:t>
            </a:r>
            <a:r>
              <a:rPr lang="zh-CN" altLang="en-US" sz="2800" dirty="0" smtClean="0"/>
              <a:t>这里所说的“环”，是指由反馈环节构成的回路</a:t>
            </a:r>
            <a:r>
              <a:rPr lang="en-US" altLang="zh-CN" sz="2800" dirty="0" smtClean="0"/>
              <a:t>)</a:t>
            </a:r>
            <a:r>
              <a:rPr lang="zh-CN" altLang="en-US" sz="2800"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4"/>
          <p:cNvSpPr>
            <a:spLocks noGrp="1"/>
          </p:cNvSpPr>
          <p:nvPr>
            <p:ph type="title"/>
          </p:nvPr>
        </p:nvSpPr>
        <p:spPr>
          <a:xfrm>
            <a:off x="611472" y="728640"/>
            <a:ext cx="7319645" cy="750570"/>
          </a:xfrm>
        </p:spPr>
        <p:txBody>
          <a:bodyPr/>
          <a:lstStyle/>
          <a:p>
            <a:pPr algn="l"/>
            <a:r>
              <a:rPr lang="zh-CN" altLang="en-US" sz="2800" dirty="0" smtClean="0"/>
              <a:t>一、开环控制系统</a:t>
            </a:r>
          </a:p>
        </p:txBody>
      </p:sp>
      <p:sp>
        <p:nvSpPr>
          <p:cNvPr id="21507" name="内容占位符 5"/>
          <p:cNvSpPr>
            <a:spLocks noGrp="1"/>
          </p:cNvSpPr>
          <p:nvPr>
            <p:ph idx="1"/>
          </p:nvPr>
        </p:nvSpPr>
        <p:spPr>
          <a:xfrm>
            <a:off x="457200" y="1421130"/>
            <a:ext cx="8229600" cy="4525963"/>
          </a:xfrm>
        </p:spPr>
        <p:txBody>
          <a:bodyPr/>
          <a:lstStyle/>
          <a:p>
            <a:pPr marL="0" indent="0" latinLnBrk="0">
              <a:lnSpc>
                <a:spcPct val="120000"/>
              </a:lnSpc>
              <a:spcBef>
                <a:spcPts val="0"/>
              </a:spcBef>
              <a:buNone/>
            </a:pPr>
            <a:r>
              <a:rPr lang="zh-CN" altLang="en-US" sz="2800" dirty="0" smtClean="0"/>
              <a:t>        开环控制系统</a:t>
            </a:r>
            <a:r>
              <a:rPr lang="en-US" altLang="zh-CN" sz="2800" dirty="0" smtClean="0"/>
              <a:t>——</a:t>
            </a:r>
            <a:r>
              <a:rPr lang="zh-CN" altLang="en-US" sz="2800" dirty="0" smtClean="0"/>
              <a:t>若系统的输出量不被引回来对系统的控制部分产生影响，这样的系统称为开环控制系统</a:t>
            </a:r>
            <a:r>
              <a:rPr lang="en-US" altLang="zh-CN" sz="2800" dirty="0" smtClean="0"/>
              <a:t>(</a:t>
            </a:r>
            <a:r>
              <a:rPr lang="en-US" altLang="zh-CN" sz="2800" dirty="0" smtClean="0">
                <a:latin typeface="Times New Roman" panose="02020603050405020304" pitchFamily="18" charset="0"/>
              </a:rPr>
              <a:t>Open Loop Control System</a:t>
            </a:r>
            <a:r>
              <a:rPr lang="en-US" altLang="zh-CN" sz="2800" dirty="0" smtClean="0"/>
              <a:t>)</a:t>
            </a:r>
            <a:r>
              <a:rPr lang="zh-CN" altLang="en-US" sz="2800" dirty="0" smtClean="0"/>
              <a:t>。</a:t>
            </a:r>
            <a:r>
              <a:rPr lang="zh-CN" altLang="en-US" sz="2800" dirty="0">
                <a:latin typeface="+mn-ea"/>
              </a:rPr>
              <a:t>如图</a:t>
            </a:r>
            <a:r>
              <a:rPr lang="en-US" altLang="zh-CN" sz="2800" dirty="0">
                <a:latin typeface="+mn-ea"/>
              </a:rPr>
              <a:t>1-1</a:t>
            </a:r>
            <a:r>
              <a:rPr lang="zh-CN" altLang="en-US" sz="2800" dirty="0" smtClean="0"/>
              <a:t>所示的由步进电动机驱动的数控加工机床，是一个典型的开环控制系统。</a:t>
            </a:r>
            <a:endParaRPr lang="en-US" altLang="zh-CN" sz="2800" dirty="0" smtClean="0"/>
          </a:p>
          <a:p>
            <a:pPr marL="0"/>
            <a:endParaRPr lang="en-US" altLang="zh-CN" sz="2800" dirty="0"/>
          </a:p>
          <a:p>
            <a:pPr marL="0"/>
            <a:endParaRPr lang="en-US" altLang="zh-CN" sz="2800" dirty="0" smtClean="0"/>
          </a:p>
          <a:p>
            <a:pPr marL="0"/>
            <a:endParaRPr lang="en-US" altLang="zh-CN" sz="2800" dirty="0"/>
          </a:p>
          <a:p>
            <a:pPr marL="0"/>
            <a:endParaRPr lang="en-US" altLang="zh-CN" sz="2800" dirty="0" smtClean="0"/>
          </a:p>
          <a:p>
            <a:pPr marL="0" indent="0" algn="ctr">
              <a:buNone/>
            </a:pPr>
            <a:r>
              <a:rPr lang="zh-CN" altLang="en-US" sz="2000" dirty="0" smtClean="0"/>
              <a:t>图</a:t>
            </a:r>
            <a:r>
              <a:rPr lang="en-US" altLang="zh-CN" sz="2000" dirty="0">
                <a:latin typeface="+mn-ea"/>
              </a:rPr>
              <a:t>1-1  </a:t>
            </a:r>
            <a:r>
              <a:rPr lang="zh-CN" altLang="en-US" sz="2000" dirty="0" smtClean="0"/>
              <a:t>数控加工机床加工过程示意图</a:t>
            </a:r>
          </a:p>
        </p:txBody>
      </p:sp>
      <p:pic>
        <p:nvPicPr>
          <p:cNvPr id="21508" name="图片 7" descr="tp1z1.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9301" y="3969072"/>
            <a:ext cx="7640637"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5"/>
          <p:cNvSpPr>
            <a:spLocks noGrp="1"/>
          </p:cNvSpPr>
          <p:nvPr>
            <p:ph idx="1"/>
          </p:nvPr>
        </p:nvSpPr>
        <p:spPr>
          <a:xfrm>
            <a:off x="457200" y="1242060"/>
            <a:ext cx="8229600" cy="4525963"/>
          </a:xfrm>
        </p:spPr>
        <p:txBody>
          <a:bodyPr/>
          <a:lstStyle/>
          <a:p>
            <a:pPr marL="0" indent="0" latinLnBrk="0">
              <a:lnSpc>
                <a:spcPct val="120000"/>
              </a:lnSpc>
              <a:spcBef>
                <a:spcPts val="0"/>
              </a:spcBef>
              <a:buNone/>
            </a:pPr>
            <a:r>
              <a:rPr lang="zh-CN" altLang="en-US" sz="2800" dirty="0" smtClean="0"/>
              <a:t>        如今采用微机控制，应用专用步进驱动模块驱动的伺服系统，可达到每转</a:t>
            </a:r>
            <a:r>
              <a:rPr lang="en-US" altLang="zh-CN" sz="2800" dirty="0" smtClean="0">
                <a:latin typeface="Times New Roman" panose="02020603050405020304" pitchFamily="18" charset="0"/>
              </a:rPr>
              <a:t>10000</a:t>
            </a:r>
            <a:r>
              <a:rPr lang="zh-CN" altLang="en-US" sz="2800" dirty="0" smtClean="0"/>
              <a:t>步的高分辨率。因此对小功率伺服系统，采用开环控制也可以达到很高的控制精度。图</a:t>
            </a:r>
            <a:r>
              <a:rPr lang="en-US" altLang="zh-CN" sz="2800" dirty="0" smtClean="0">
                <a:latin typeface="+mn-ea"/>
              </a:rPr>
              <a:t>1-2</a:t>
            </a:r>
            <a:r>
              <a:rPr lang="zh-CN" altLang="en-US" sz="2800" dirty="0" smtClean="0"/>
              <a:t>为数控加工机床开环控制框图。</a:t>
            </a:r>
            <a:endParaRPr lang="en-US" altLang="zh-CN" sz="2800" dirty="0" smtClean="0"/>
          </a:p>
          <a:p>
            <a:pPr marL="0"/>
            <a:endParaRPr lang="en-US" altLang="zh-CN" sz="2800" dirty="0"/>
          </a:p>
          <a:p>
            <a:pPr marL="0"/>
            <a:endParaRPr lang="en-US" altLang="zh-CN" sz="2800" dirty="0" smtClean="0"/>
          </a:p>
          <a:p>
            <a:pPr marL="0"/>
            <a:endParaRPr lang="en-US" altLang="zh-CN" sz="2800" dirty="0"/>
          </a:p>
          <a:p>
            <a:pPr marL="0"/>
            <a:endParaRPr lang="en-US" altLang="zh-CN" sz="2800" dirty="0" smtClean="0"/>
          </a:p>
          <a:p>
            <a:pPr marL="0" indent="0" algn="ctr">
              <a:buNone/>
            </a:pPr>
            <a:r>
              <a:rPr lang="zh-CN" altLang="en-US" sz="2000" dirty="0" smtClean="0"/>
              <a:t>图</a:t>
            </a:r>
            <a:r>
              <a:rPr lang="en-US" altLang="zh-CN" sz="2000" dirty="0">
                <a:latin typeface="+mn-ea"/>
              </a:rPr>
              <a:t>1-2 </a:t>
            </a:r>
            <a:r>
              <a:rPr lang="en-US" altLang="zh-CN" sz="2000" dirty="0" smtClean="0"/>
              <a:t> </a:t>
            </a:r>
            <a:r>
              <a:rPr lang="zh-CN" altLang="en-US" sz="2000" dirty="0" smtClean="0"/>
              <a:t>数控加工机床开环控制框图</a:t>
            </a:r>
          </a:p>
        </p:txBody>
      </p:sp>
      <p:pic>
        <p:nvPicPr>
          <p:cNvPr id="22531" name="图片 6" descr="捕获.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1973" y="3790002"/>
            <a:ext cx="74612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4"/>
          <p:cNvSpPr>
            <a:spLocks noGrp="1"/>
          </p:cNvSpPr>
          <p:nvPr>
            <p:ph type="title"/>
          </p:nvPr>
        </p:nvSpPr>
        <p:spPr>
          <a:xfrm>
            <a:off x="1000125" y="598170"/>
            <a:ext cx="7661275" cy="822960"/>
          </a:xfrm>
        </p:spPr>
        <p:txBody>
          <a:bodyPr/>
          <a:lstStyle/>
          <a:p>
            <a:pPr algn="l"/>
            <a:r>
              <a:rPr lang="zh-CN" altLang="en-US" sz="2800" smtClean="0"/>
              <a:t>开环控制系统的特点</a:t>
            </a:r>
          </a:p>
        </p:txBody>
      </p:sp>
      <p:sp>
        <p:nvSpPr>
          <p:cNvPr id="23555" name="内容占位符 5"/>
          <p:cNvSpPr>
            <a:spLocks noGrp="1"/>
          </p:cNvSpPr>
          <p:nvPr>
            <p:ph idx="1"/>
          </p:nvPr>
        </p:nvSpPr>
        <p:spPr>
          <a:xfrm>
            <a:off x="457200" y="1537018"/>
            <a:ext cx="8229600" cy="4857750"/>
          </a:xfrm>
        </p:spPr>
        <p:txBody>
          <a:bodyPr/>
          <a:lstStyle/>
          <a:p>
            <a:pPr marL="0" indent="0">
              <a:lnSpc>
                <a:spcPct val="120000"/>
              </a:lnSpc>
              <a:buNone/>
            </a:pPr>
            <a:r>
              <a:rPr lang="zh-CN" altLang="en-US" sz="2800" dirty="0" smtClean="0"/>
              <a:t>       一般结构简单，系统稳定性好，成本也低，这是开环系统的</a:t>
            </a:r>
            <a:r>
              <a:rPr lang="zh-CN" altLang="en-US" sz="2800" b="1" dirty="0" smtClean="0"/>
              <a:t>优点</a:t>
            </a:r>
            <a:r>
              <a:rPr lang="zh-CN" altLang="en-US" sz="2800" dirty="0" smtClean="0"/>
              <a:t>。因此，</a:t>
            </a:r>
            <a:r>
              <a:rPr lang="zh-CN" altLang="en-US" sz="2800" b="1" dirty="0" smtClean="0"/>
              <a:t>在输出量和输入量之间的关系固定，且内部参数或外部负载等扰动因素不大，或这些扰动因素产生的误差可以预计确定并能进行补偿，则应尽量采用开环控制系统。</a:t>
            </a:r>
            <a:r>
              <a:rPr lang="zh-CN" altLang="en-US" sz="2800" dirty="0" smtClean="0"/>
              <a:t> </a:t>
            </a:r>
            <a:endParaRPr lang="en-US" altLang="zh-CN" sz="2800" dirty="0" smtClean="0"/>
          </a:p>
          <a:p>
            <a:pPr marL="0" indent="0">
              <a:lnSpc>
                <a:spcPct val="120000"/>
              </a:lnSpc>
              <a:buNone/>
            </a:pPr>
            <a:r>
              <a:rPr lang="zh-CN" altLang="en-US" sz="2800" dirty="0" smtClean="0"/>
              <a:t>       开环控制的</a:t>
            </a:r>
            <a:r>
              <a:rPr lang="zh-CN" altLang="en-US" sz="2800" b="1" dirty="0" smtClean="0"/>
              <a:t>缺点</a:t>
            </a:r>
            <a:r>
              <a:rPr lang="zh-CN" altLang="en-US" sz="2800" dirty="0" smtClean="0"/>
              <a:t>是当控制过程受到各种扰动因素影响时，将会直接影响输出量，而系统不能自动进行补偿。特别是当无法预计的扰动因素使输出量</a:t>
            </a:r>
            <a:endParaRPr lang="zh-CN" alt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5"/>
          <p:cNvSpPr>
            <a:spLocks noGrp="1"/>
          </p:cNvSpPr>
          <p:nvPr>
            <p:ph idx="1"/>
          </p:nvPr>
        </p:nvSpPr>
        <p:spPr>
          <a:xfrm>
            <a:off x="431448" y="728640"/>
            <a:ext cx="8229600" cy="5568968"/>
          </a:xfrm>
        </p:spPr>
        <p:txBody>
          <a:bodyPr/>
          <a:lstStyle/>
          <a:p>
            <a:pPr marL="0" lvl="0" indent="0">
              <a:lnSpc>
                <a:spcPct val="120000"/>
              </a:lnSpc>
              <a:buNone/>
            </a:pPr>
            <a:r>
              <a:rPr lang="zh-CN" altLang="en-US" sz="2800" dirty="0">
                <a:solidFill>
                  <a:srgbClr val="000000"/>
                </a:solidFill>
              </a:rPr>
              <a:t>产生的偏差超过允许的限度时 ，开环控制系统便无法满足技术要求，这时应考虑采用闭环控制系统</a:t>
            </a:r>
            <a:r>
              <a:rPr lang="zh-CN" altLang="en-US" dirty="0">
                <a:solidFill>
                  <a:srgbClr val="000000"/>
                </a:solidFill>
              </a:rPr>
              <a:t>。</a:t>
            </a:r>
          </a:p>
          <a:p>
            <a:pPr marL="0" indent="0" latinLnBrk="0">
              <a:lnSpc>
                <a:spcPct val="120000"/>
              </a:lnSpc>
              <a:spcBef>
                <a:spcPts val="0"/>
              </a:spcBef>
              <a:buNone/>
            </a:pPr>
            <a:endParaRPr lang="en-US" altLang="zh-CN" sz="2800" dirty="0" smtClean="0"/>
          </a:p>
          <a:p>
            <a:pPr marL="0" indent="0" latinLnBrk="0">
              <a:lnSpc>
                <a:spcPct val="120000"/>
              </a:lnSpc>
              <a:spcBef>
                <a:spcPts val="0"/>
              </a:spcBef>
              <a:buNone/>
            </a:pPr>
            <a:endParaRPr lang="en-US" altLang="zh-CN" sz="2800" dirty="0"/>
          </a:p>
          <a:p>
            <a:pPr marL="0" indent="0" latinLnBrk="0">
              <a:lnSpc>
                <a:spcPct val="120000"/>
              </a:lnSpc>
              <a:spcBef>
                <a:spcPts val="0"/>
              </a:spcBef>
              <a:buNone/>
            </a:pPr>
            <a:r>
              <a:rPr lang="zh-CN" altLang="en-US" sz="2800" dirty="0" smtClean="0"/>
              <a:t>       闭环控制系统</a:t>
            </a:r>
            <a:r>
              <a:rPr lang="en-US" altLang="zh-CN" sz="2800" dirty="0" smtClean="0"/>
              <a:t>——</a:t>
            </a:r>
            <a:r>
              <a:rPr lang="zh-CN" altLang="en-US" sz="2800" dirty="0" smtClean="0"/>
              <a:t>若系统输出量通过反馈环节返回来作用于控制部分，形成闭合环路，这样的系统称为闭环控制系统</a:t>
            </a:r>
            <a:r>
              <a:rPr lang="en-US" altLang="zh-CN" sz="2800" dirty="0" smtClean="0"/>
              <a:t>(</a:t>
            </a:r>
            <a:r>
              <a:rPr lang="en-US" altLang="zh-CN" sz="2800" dirty="0" smtClean="0">
                <a:latin typeface="Times New Roman" panose="02020603050405020304" pitchFamily="18" charset="0"/>
              </a:rPr>
              <a:t>Closed</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Loop</a:t>
            </a:r>
            <a:r>
              <a:rPr lang="zh-CN" altLang="en-US" sz="2800" dirty="0" smtClean="0">
                <a:latin typeface="Times New Roman" panose="02020603050405020304" pitchFamily="18" charset="0"/>
              </a:rPr>
              <a:t>　</a:t>
            </a:r>
            <a:r>
              <a:rPr lang="en-US" altLang="zh-CN" sz="2800" dirty="0" smtClean="0">
                <a:latin typeface="Times New Roman" panose="02020603050405020304" pitchFamily="18" charset="0"/>
              </a:rPr>
              <a:t>Control System</a:t>
            </a:r>
            <a:r>
              <a:rPr lang="en-US" altLang="zh-CN" sz="2800" dirty="0" smtClean="0"/>
              <a:t>)</a:t>
            </a:r>
            <a:r>
              <a:rPr lang="zh-CN" altLang="en-US" sz="2800" dirty="0" smtClean="0"/>
              <a:t>，又称为反馈控制系统</a:t>
            </a:r>
            <a:r>
              <a:rPr lang="en-US" altLang="zh-CN" sz="2800" dirty="0" smtClean="0"/>
              <a:t>(</a:t>
            </a:r>
            <a:r>
              <a:rPr lang="en-US" altLang="zh-CN" sz="2800" dirty="0" smtClean="0">
                <a:latin typeface="Times New Roman" panose="02020603050405020304" pitchFamily="18" charset="0"/>
              </a:rPr>
              <a:t>Feedback Control System</a:t>
            </a:r>
            <a:r>
              <a:rPr lang="en-US" altLang="zh-CN" sz="2800" dirty="0" smtClean="0"/>
              <a:t>)</a:t>
            </a:r>
            <a:r>
              <a:rPr lang="zh-CN" altLang="en-US" sz="2800" dirty="0" smtClean="0"/>
              <a:t>。</a:t>
            </a:r>
            <a:r>
              <a:rPr lang="zh-CN" altLang="en-US" sz="2800" dirty="0">
                <a:latin typeface="+mn-ea"/>
              </a:rPr>
              <a:t>图</a:t>
            </a:r>
            <a:r>
              <a:rPr lang="en-US" altLang="zh-CN" sz="2800" dirty="0">
                <a:latin typeface="+mn-ea"/>
              </a:rPr>
              <a:t>1-3</a:t>
            </a:r>
            <a:r>
              <a:rPr lang="zh-CN" altLang="en-US" sz="2800" dirty="0" smtClean="0"/>
              <a:t>为电炉箱恒温自动控制系统，是一个典型的闭环控制系统。</a:t>
            </a:r>
          </a:p>
        </p:txBody>
      </p:sp>
      <p:sp>
        <p:nvSpPr>
          <p:cNvPr id="24578" name="标题 4"/>
          <p:cNvSpPr>
            <a:spLocks noGrp="1"/>
          </p:cNvSpPr>
          <p:nvPr>
            <p:ph type="title"/>
          </p:nvPr>
        </p:nvSpPr>
        <p:spPr>
          <a:xfrm>
            <a:off x="611472" y="1898796"/>
            <a:ext cx="7412990" cy="926465"/>
          </a:xfrm>
        </p:spPr>
        <p:txBody>
          <a:bodyPr/>
          <a:lstStyle/>
          <a:p>
            <a:pPr algn="l"/>
            <a:r>
              <a:rPr lang="zh-CN" altLang="en-US" sz="2800" dirty="0" smtClean="0"/>
              <a:t>二、闭环控制系统</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4"/>
          <p:cNvSpPr>
            <a:spLocks noGrp="1"/>
          </p:cNvSpPr>
          <p:nvPr>
            <p:ph type="title"/>
          </p:nvPr>
        </p:nvSpPr>
        <p:spPr>
          <a:xfrm>
            <a:off x="1331595" y="5228590"/>
            <a:ext cx="6523355" cy="709295"/>
          </a:xfrm>
        </p:spPr>
        <p:txBody>
          <a:bodyPr/>
          <a:lstStyle/>
          <a:p>
            <a:r>
              <a:rPr lang="zh-CN" altLang="en-US" sz="2000" dirty="0" smtClean="0"/>
              <a:t>图</a:t>
            </a:r>
            <a:r>
              <a:rPr lang="en-US" altLang="zh-CN" sz="2000" dirty="0" smtClean="0"/>
              <a:t>1-3    </a:t>
            </a:r>
            <a:r>
              <a:rPr lang="zh-CN" altLang="en-US" sz="2000" dirty="0" smtClean="0"/>
              <a:t>电炉箱恒温自动控制系统</a:t>
            </a:r>
          </a:p>
        </p:txBody>
      </p:sp>
      <p:pic>
        <p:nvPicPr>
          <p:cNvPr id="25603" name="内容占位符 6" descr="tp1z3.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331568" y="1091073"/>
            <a:ext cx="6477000" cy="4048125"/>
          </a:xfr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内容占位符 6" descr="tp1z4.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420813" y="728663"/>
            <a:ext cx="6477000" cy="2009775"/>
          </a:xfrm>
        </p:spPr>
      </p:pic>
      <p:sp>
        <p:nvSpPr>
          <p:cNvPr id="1028" name="矩形 8"/>
          <p:cNvSpPr>
            <a:spLocks noChangeArrowheads="1"/>
          </p:cNvSpPr>
          <p:nvPr/>
        </p:nvSpPr>
        <p:spPr bwMode="auto">
          <a:xfrm>
            <a:off x="3176877" y="2978150"/>
            <a:ext cx="3190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2000" dirty="0"/>
              <a:t>图</a:t>
            </a:r>
            <a:r>
              <a:rPr lang="en-US" altLang="zh-CN" sz="2000" dirty="0"/>
              <a:t>1-4 </a:t>
            </a:r>
            <a:r>
              <a:rPr lang="zh-CN" altLang="en-US" sz="2000" dirty="0"/>
              <a:t>电炉箱自动控制框图</a:t>
            </a:r>
          </a:p>
        </p:txBody>
      </p:sp>
      <p:pic>
        <p:nvPicPr>
          <p:cNvPr id="1029" name="图片 9" descr="tp1z5.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41425" y="3608388"/>
            <a:ext cx="66675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矩形 10"/>
          <p:cNvSpPr>
            <a:spLocks noChangeArrowheads="1"/>
          </p:cNvSpPr>
          <p:nvPr/>
        </p:nvSpPr>
        <p:spPr bwMode="auto">
          <a:xfrm>
            <a:off x="3133408" y="4869498"/>
            <a:ext cx="3024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2000"/>
              <a:t>图</a:t>
            </a:r>
            <a:r>
              <a:rPr lang="en-US" altLang="zh-CN" sz="2000"/>
              <a:t>1-5 </a:t>
            </a:r>
            <a:r>
              <a:rPr lang="zh-CN" altLang="en-US" sz="2000"/>
              <a:t>炉温自动调节过程</a:t>
            </a:r>
          </a:p>
        </p:txBody>
      </p:sp>
      <mc:AlternateContent xmlns:mc="http://schemas.openxmlformats.org/markup-compatibility/2006" xmlns:a14="http://schemas.microsoft.com/office/drawing/2010/main">
        <mc:Choice Requires="a14">
          <p:sp>
            <p:nvSpPr>
              <p:cNvPr id="1031" name="矩形 13"/>
              <p:cNvSpPr>
                <a:spLocks noChangeArrowheads="1"/>
              </p:cNvSpPr>
              <p:nvPr/>
            </p:nvSpPr>
            <p:spPr bwMode="auto">
              <a:xfrm>
                <a:off x="1331912" y="5408613"/>
                <a:ext cx="7020591" cy="4801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None/>
                </a:pPr>
                <a:r>
                  <a:rPr lang="zh-CN" altLang="en-US" dirty="0" smtClean="0"/>
                  <a:t>炉温处于给定值时，</a:t>
                </a:r>
                <a14:m>
                  <m:oMath xmlns:m="http://schemas.openxmlformats.org/officeDocument/2006/math">
                    <m:r>
                      <a:rPr lang="zh-CN" altLang="en-US" i="1" smtClean="0">
                        <a:latin typeface="Cambria Math"/>
                      </a:rPr>
                      <m:t>∆</m:t>
                    </m:r>
                    <m:r>
                      <a:rPr lang="en-US" altLang="zh-CN" b="0" i="1" smtClean="0">
                        <a:latin typeface="Cambria Math"/>
                      </a:rPr>
                      <m:t>𝑈</m:t>
                    </m:r>
                    <m:r>
                      <a:rPr lang="en-US" altLang="zh-CN" i="1" dirty="0" smtClean="0">
                        <a:latin typeface="Cambria Math"/>
                      </a:rPr>
                      <m:t>=</m:t>
                    </m:r>
                    <m:r>
                      <a:rPr lang="en-US" altLang="zh-CN" i="1" dirty="0">
                        <a:latin typeface="Cambria Math"/>
                      </a:rPr>
                      <m:t>0</m:t>
                    </m:r>
                  </m:oMath>
                </a14:m>
                <a:r>
                  <a:rPr lang="zh-CN" altLang="en-US" dirty="0"/>
                  <a:t>，电动机停转。</a:t>
                </a:r>
              </a:p>
            </p:txBody>
          </p:sp>
        </mc:Choice>
        <mc:Fallback xmlns="">
          <p:sp>
            <p:nvSpPr>
              <p:cNvPr id="1031" name="矩形 13"/>
              <p:cNvSpPr>
                <a:spLocks noRot="1" noChangeAspect="1" noMove="1" noResize="1" noEditPoints="1" noAdjustHandles="1" noChangeArrowheads="1" noChangeShapeType="1" noTextEdit="1"/>
              </p:cNvSpPr>
              <p:nvPr/>
            </p:nvSpPr>
            <p:spPr bwMode="auto">
              <a:xfrm>
                <a:off x="1331912" y="5408613"/>
                <a:ext cx="7020591" cy="480131"/>
              </a:xfrm>
              <a:prstGeom prst="rect">
                <a:avLst/>
              </a:prstGeom>
              <a:blipFill rotWithShape="1">
                <a:blip r:embed="rId4"/>
                <a:stretch>
                  <a:fillRect l="-1736" t="-25316" r="-955" b="-303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4"/>
          <p:cNvSpPr>
            <a:spLocks noGrp="1"/>
          </p:cNvSpPr>
          <p:nvPr>
            <p:ph type="title"/>
          </p:nvPr>
        </p:nvSpPr>
        <p:spPr>
          <a:xfrm>
            <a:off x="1331568" y="548616"/>
            <a:ext cx="7339965" cy="1143000"/>
          </a:xfrm>
        </p:spPr>
        <p:txBody>
          <a:bodyPr/>
          <a:lstStyle/>
          <a:p>
            <a:pPr algn="l"/>
            <a:r>
              <a:rPr lang="zh-CN" altLang="en-US" sz="2800" dirty="0" smtClean="0"/>
              <a:t>闭环控制系统的特点</a:t>
            </a:r>
          </a:p>
        </p:txBody>
      </p:sp>
      <p:sp>
        <p:nvSpPr>
          <p:cNvPr id="26627" name="内容占位符 5"/>
          <p:cNvSpPr>
            <a:spLocks noGrp="1"/>
          </p:cNvSpPr>
          <p:nvPr>
            <p:ph idx="1"/>
          </p:nvPr>
        </p:nvSpPr>
        <p:spPr>
          <a:xfrm>
            <a:off x="457200" y="1779270"/>
            <a:ext cx="8229600" cy="4525963"/>
          </a:xfrm>
        </p:spPr>
        <p:txBody>
          <a:bodyPr/>
          <a:lstStyle/>
          <a:p>
            <a:pPr marL="0" indent="0" latinLnBrk="0">
              <a:lnSpc>
                <a:spcPct val="130000"/>
              </a:lnSpc>
              <a:spcBef>
                <a:spcPts val="0"/>
              </a:spcBef>
              <a:buNone/>
            </a:pPr>
            <a:r>
              <a:rPr lang="zh-CN" altLang="en-US" sz="2800" b="1" dirty="0" smtClean="0"/>
              <a:t>       反馈控制可以自动进行补偿，是闭环控制的一个突出的优点。</a:t>
            </a:r>
            <a:endParaRPr lang="en-US" altLang="zh-CN" sz="2800" dirty="0" smtClean="0"/>
          </a:p>
          <a:p>
            <a:pPr marL="0" indent="0" latinLnBrk="0">
              <a:lnSpc>
                <a:spcPct val="130000"/>
              </a:lnSpc>
              <a:spcBef>
                <a:spcPts val="0"/>
              </a:spcBef>
              <a:buNone/>
            </a:pPr>
            <a:r>
              <a:rPr lang="zh-CN" altLang="en-US" sz="2800" dirty="0" smtClean="0"/>
              <a:t>       当然，闭环控制要增加检测、反馈比较、调节器等部件，会使系统复杂、成本提高。而且闭环控制会带来副作用，使系统的稳定性变差，甚至造成不稳定。这是采用闭环控制时必须重视并要加以解决的问题。</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4"/>
          <p:cNvSpPr>
            <a:spLocks noGrp="1"/>
          </p:cNvSpPr>
          <p:nvPr>
            <p:ph type="title"/>
          </p:nvPr>
        </p:nvSpPr>
        <p:spPr>
          <a:xfrm>
            <a:off x="457200" y="453708"/>
            <a:ext cx="8229600" cy="1143000"/>
          </a:xfrm>
        </p:spPr>
        <p:txBody>
          <a:bodyPr/>
          <a:lstStyle/>
          <a:p>
            <a:r>
              <a:rPr lang="zh-CN" altLang="en-US" sz="3600" smtClean="0">
                <a:latin typeface="Times New Roman" panose="02020603050405020304" pitchFamily="18" charset="0"/>
              </a:rPr>
              <a:t>第三节  自动控制系统的组成</a:t>
            </a:r>
            <a:endParaRPr lang="zh-CN" altLang="en-US" sz="3600" smtClean="0"/>
          </a:p>
        </p:txBody>
      </p:sp>
      <p:sp>
        <p:nvSpPr>
          <p:cNvPr id="27651" name="内容占位符 5"/>
          <p:cNvSpPr>
            <a:spLocks noGrp="1"/>
          </p:cNvSpPr>
          <p:nvPr>
            <p:ph idx="1"/>
          </p:nvPr>
        </p:nvSpPr>
        <p:spPr>
          <a:xfrm>
            <a:off x="431800" y="1718310"/>
            <a:ext cx="8229600" cy="4525963"/>
          </a:xfrm>
        </p:spPr>
        <p:txBody>
          <a:bodyPr/>
          <a:lstStyle/>
          <a:p>
            <a:pPr marL="0" indent="0">
              <a:buNone/>
            </a:pPr>
            <a:r>
              <a:rPr lang="en-US" altLang="zh-CN" sz="2800" dirty="0" smtClean="0"/>
              <a:t>     </a:t>
            </a:r>
            <a:r>
              <a:rPr lang="zh-CN" altLang="en-US" sz="2800" dirty="0" smtClean="0"/>
              <a:t>框图可以把系统的组成简单明了地表达出来。</a:t>
            </a:r>
          </a:p>
          <a:p>
            <a:endParaRPr lang="zh-CN" altLang="en-US" dirty="0" smtClean="0"/>
          </a:p>
        </p:txBody>
      </p:sp>
      <p:pic>
        <p:nvPicPr>
          <p:cNvPr id="27652" name="图片 6" descr="tp1z6.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1063" y="2259013"/>
            <a:ext cx="6764337"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矩形 7"/>
          <p:cNvSpPr>
            <a:spLocks noChangeArrowheads="1"/>
          </p:cNvSpPr>
          <p:nvPr/>
        </p:nvSpPr>
        <p:spPr bwMode="auto">
          <a:xfrm>
            <a:off x="3132138" y="5859463"/>
            <a:ext cx="3189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dirty="0"/>
              <a:t>图</a:t>
            </a:r>
            <a:r>
              <a:rPr lang="en-US" altLang="zh-CN" sz="2000" dirty="0"/>
              <a:t>1-6 </a:t>
            </a:r>
            <a:r>
              <a:rPr lang="zh-CN" altLang="en-US" sz="2000" dirty="0"/>
              <a:t>自动控制系统的框图</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5"/>
          <p:cNvSpPr>
            <a:spLocks noGrp="1"/>
          </p:cNvSpPr>
          <p:nvPr>
            <p:ph idx="1"/>
          </p:nvPr>
        </p:nvSpPr>
        <p:spPr>
          <a:xfrm>
            <a:off x="431800" y="728640"/>
            <a:ext cx="8229600" cy="5400698"/>
          </a:xfrm>
        </p:spPr>
        <p:txBody>
          <a:bodyPr/>
          <a:lstStyle/>
          <a:p>
            <a:pPr marL="0">
              <a:lnSpc>
                <a:spcPct val="120000"/>
              </a:lnSpc>
              <a:buFontTx/>
              <a:buNone/>
            </a:pPr>
            <a:r>
              <a:rPr lang="zh-CN" altLang="en-US" sz="2800" dirty="0" smtClean="0"/>
              <a:t>由图</a:t>
            </a:r>
            <a:r>
              <a:rPr lang="en-US" altLang="zh-CN" sz="2800" dirty="0" smtClean="0">
                <a:latin typeface="Times New Roman" panose="02020603050405020304" pitchFamily="18" charset="0"/>
              </a:rPr>
              <a:t>1-6</a:t>
            </a:r>
            <a:r>
              <a:rPr lang="zh-CN" altLang="en-US" sz="2800" dirty="0" smtClean="0"/>
              <a:t>可以看出</a:t>
            </a:r>
            <a:r>
              <a:rPr lang="en-US" altLang="zh-CN" sz="2800" dirty="0" smtClean="0"/>
              <a:t>: </a:t>
            </a:r>
            <a:r>
              <a:rPr lang="zh-CN" altLang="en-US" sz="2800" dirty="0" smtClean="0"/>
              <a:t/>
            </a:r>
            <a:br>
              <a:rPr lang="zh-CN" altLang="en-US" sz="2800" dirty="0" smtClean="0"/>
            </a:br>
            <a:r>
              <a:rPr lang="zh-CN" altLang="en-US" sz="2800" dirty="0" smtClean="0"/>
              <a:t>　　</a:t>
            </a:r>
            <a:r>
              <a:rPr lang="en-US" altLang="zh-CN" sz="2800" dirty="0" smtClean="0"/>
              <a:t>1.</a:t>
            </a:r>
            <a:r>
              <a:rPr lang="zh-CN" altLang="en-US" sz="2800" dirty="0" smtClean="0"/>
              <a:t>一般自动控制系统包括：</a:t>
            </a:r>
            <a:br>
              <a:rPr lang="zh-CN" altLang="en-US" sz="2800" dirty="0" smtClean="0"/>
            </a:br>
            <a:r>
              <a:rPr lang="zh-CN" altLang="en-US" sz="2800" dirty="0" smtClean="0"/>
              <a:t>　　①给定元件</a:t>
            </a:r>
            <a:r>
              <a:rPr lang="en-US" altLang="zh-CN" sz="2800" dirty="0" smtClean="0"/>
              <a:t>(</a:t>
            </a:r>
            <a:r>
              <a:rPr lang="en-US" altLang="zh-CN" sz="2800" dirty="0" smtClean="0">
                <a:latin typeface="Times New Roman" panose="02020603050405020304" pitchFamily="18" charset="0"/>
              </a:rPr>
              <a:t>Command Element</a:t>
            </a:r>
            <a:r>
              <a:rPr lang="en-US" altLang="zh-CN" sz="2800" dirty="0" smtClean="0"/>
              <a:t>)</a:t>
            </a:r>
            <a:r>
              <a:rPr lang="zh-CN" altLang="en-US" sz="2800" dirty="0" smtClean="0"/>
              <a:t>。</a:t>
            </a:r>
            <a:r>
              <a:rPr lang="en-US" altLang="zh-CN" sz="2800" dirty="0" smtClean="0"/>
              <a:t/>
            </a:r>
            <a:br>
              <a:rPr lang="en-US" altLang="zh-CN" sz="2800" dirty="0" smtClean="0"/>
            </a:br>
            <a:r>
              <a:rPr lang="zh-CN" altLang="en-US" sz="2800" dirty="0" smtClean="0"/>
              <a:t>　　②检测元件</a:t>
            </a:r>
            <a:r>
              <a:rPr lang="en-US" altLang="zh-CN" sz="2800" dirty="0" smtClean="0"/>
              <a:t>(</a:t>
            </a:r>
            <a:r>
              <a:rPr lang="en-US" altLang="zh-CN" sz="2800" dirty="0" smtClean="0">
                <a:latin typeface="Times New Roman" panose="02020603050405020304" pitchFamily="18" charset="0"/>
              </a:rPr>
              <a:t>Detecting Element</a:t>
            </a:r>
            <a:r>
              <a:rPr lang="en-US" altLang="zh-CN" sz="2800" dirty="0" smtClean="0"/>
              <a:t>)——</a:t>
            </a:r>
            <a:r>
              <a:rPr lang="zh-CN" altLang="en-US" sz="2800" dirty="0" smtClean="0"/>
              <a:t>此处为热电偶。</a:t>
            </a:r>
            <a:br>
              <a:rPr lang="zh-CN" altLang="en-US" sz="2800" dirty="0" smtClean="0"/>
            </a:br>
            <a:r>
              <a:rPr lang="zh-CN" altLang="en-US" sz="2800" dirty="0" smtClean="0"/>
              <a:t>　　③比较环节</a:t>
            </a:r>
            <a:r>
              <a:rPr lang="en-US" altLang="zh-CN" sz="2800" dirty="0" smtClean="0"/>
              <a:t>(</a:t>
            </a:r>
            <a:r>
              <a:rPr lang="en-US" altLang="zh-CN" sz="2800" dirty="0" smtClean="0">
                <a:latin typeface="Times New Roman" panose="02020603050405020304" pitchFamily="18" charset="0"/>
              </a:rPr>
              <a:t>Comparing Element</a:t>
            </a:r>
            <a:r>
              <a:rPr lang="en-US" altLang="zh-CN" sz="2800" dirty="0" smtClean="0"/>
              <a:t>)</a:t>
            </a:r>
            <a:r>
              <a:rPr lang="zh-CN" altLang="en-US" sz="2800" dirty="0" smtClean="0"/>
              <a:t>。</a:t>
            </a:r>
            <a:r>
              <a:rPr lang="en-US" altLang="zh-CN" sz="2800" dirty="0" smtClean="0"/>
              <a:t/>
            </a:r>
            <a:br>
              <a:rPr lang="en-US" altLang="zh-CN" sz="2800" dirty="0" smtClean="0"/>
            </a:br>
            <a:r>
              <a:rPr lang="zh-CN" altLang="en-US" sz="2800" dirty="0" smtClean="0"/>
              <a:t>　　④放大元件</a:t>
            </a:r>
            <a:r>
              <a:rPr lang="en-US" altLang="zh-CN" sz="2800" dirty="0" smtClean="0"/>
              <a:t>(</a:t>
            </a:r>
            <a:r>
              <a:rPr lang="en-US" altLang="zh-CN" sz="2800" dirty="0" smtClean="0">
                <a:latin typeface="Times New Roman" panose="02020603050405020304" pitchFamily="18" charset="0"/>
              </a:rPr>
              <a:t>Amplifying Element</a:t>
            </a:r>
            <a:r>
              <a:rPr lang="en-US" altLang="zh-CN" sz="2800" dirty="0" smtClean="0"/>
              <a:t>)</a:t>
            </a:r>
            <a:r>
              <a:rPr lang="zh-CN" altLang="en-US" sz="2800" dirty="0" smtClean="0"/>
              <a:t>。</a:t>
            </a:r>
            <a:r>
              <a:rPr lang="en-US" altLang="zh-CN" sz="2800" dirty="0" smtClean="0"/>
              <a:t/>
            </a:r>
            <a:br>
              <a:rPr lang="en-US" altLang="zh-CN" sz="2800" dirty="0" smtClean="0"/>
            </a:br>
            <a:r>
              <a:rPr lang="zh-CN" altLang="en-US" sz="2800" dirty="0" smtClean="0"/>
              <a:t>　　⑤执行元件</a:t>
            </a:r>
            <a:r>
              <a:rPr lang="en-US" altLang="zh-CN" sz="2800" dirty="0" smtClean="0"/>
              <a:t>(</a:t>
            </a:r>
            <a:r>
              <a:rPr lang="en-US" altLang="zh-CN" sz="2800" dirty="0" smtClean="0">
                <a:latin typeface="Times New Roman" panose="02020603050405020304" pitchFamily="18" charset="0"/>
              </a:rPr>
              <a:t>Executive Element</a:t>
            </a:r>
            <a:r>
              <a:rPr lang="en-US" altLang="zh-CN" sz="2800" dirty="0" smtClean="0"/>
              <a:t>)——</a:t>
            </a:r>
            <a:r>
              <a:rPr lang="zh-CN" altLang="en-US" sz="2800" dirty="0" smtClean="0"/>
              <a:t>此处为伺服电动机、减速器和调压器。</a:t>
            </a:r>
            <a:br>
              <a:rPr lang="zh-CN" altLang="en-US" sz="2800" dirty="0" smtClean="0"/>
            </a:br>
            <a:r>
              <a:rPr lang="zh-CN" altLang="en-US" sz="2800" dirty="0" smtClean="0"/>
              <a:t>　　⑥控制对象</a:t>
            </a:r>
            <a:r>
              <a:rPr lang="en-US" altLang="zh-CN" sz="2800" dirty="0" smtClean="0"/>
              <a:t>(</a:t>
            </a:r>
            <a:r>
              <a:rPr lang="en-US" altLang="zh-CN" sz="2800" dirty="0" smtClean="0">
                <a:latin typeface="Times New Roman" panose="02020603050405020304" pitchFamily="18" charset="0"/>
              </a:rPr>
              <a:t>Controlled Plant</a:t>
            </a:r>
            <a:r>
              <a:rPr lang="en-US" altLang="zh-CN" sz="2800" dirty="0" smtClean="0"/>
              <a:t>)——</a:t>
            </a:r>
            <a:r>
              <a:rPr lang="zh-CN" altLang="en-US" sz="2800" dirty="0" smtClean="0"/>
              <a:t>在此恒温系统</a:t>
            </a:r>
            <a:br>
              <a:rPr lang="zh-CN" altLang="en-US" sz="2800" dirty="0" smtClean="0"/>
            </a:br>
            <a:r>
              <a:rPr lang="zh-CN" altLang="en-US" sz="2800" dirty="0" smtClean="0"/>
              <a:t>　　</a:t>
            </a:r>
            <a:endParaRPr lang="zh-CN" alt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908664"/>
            <a:ext cx="8229600" cy="5217499"/>
          </a:xfrm>
        </p:spPr>
        <p:txBody>
          <a:bodyPr/>
          <a:lstStyle/>
          <a:p>
            <a:pPr marL="0" indent="0" latinLnBrk="0">
              <a:lnSpc>
                <a:spcPct val="130000"/>
              </a:lnSpc>
              <a:spcBef>
                <a:spcPts val="0"/>
              </a:spcBef>
              <a:buNone/>
              <a:defRPr/>
            </a:pPr>
            <a:r>
              <a:rPr lang="zh-CN" altLang="en-US" sz="2800" dirty="0">
                <a:solidFill>
                  <a:srgbClr val="000000"/>
                </a:solidFill>
              </a:rPr>
              <a:t>中即为电炉。</a:t>
            </a:r>
            <a:br>
              <a:rPr lang="zh-CN" altLang="en-US" sz="2800" dirty="0">
                <a:solidFill>
                  <a:srgbClr val="000000"/>
                </a:solidFill>
              </a:rPr>
            </a:br>
            <a:r>
              <a:rPr lang="zh-CN" altLang="en-US" sz="2800" dirty="0">
                <a:solidFill>
                  <a:srgbClr val="000000"/>
                </a:solidFill>
              </a:rPr>
              <a:t>　　⑦反馈环节</a:t>
            </a:r>
            <a:r>
              <a:rPr lang="en-US" altLang="zh-CN" sz="2800" dirty="0">
                <a:solidFill>
                  <a:srgbClr val="000000"/>
                </a:solidFill>
              </a:rPr>
              <a:t>(</a:t>
            </a:r>
            <a:r>
              <a:rPr lang="en-US" altLang="zh-CN" sz="2800" dirty="0">
                <a:solidFill>
                  <a:srgbClr val="000000"/>
                </a:solidFill>
                <a:latin typeface="Times New Roman" panose="02020603050405020304" pitchFamily="18" charset="0"/>
              </a:rPr>
              <a:t>Feedback Element</a:t>
            </a:r>
            <a:r>
              <a:rPr lang="en-US" altLang="zh-CN" sz="2800" dirty="0">
                <a:solidFill>
                  <a:srgbClr val="000000"/>
                </a:solidFill>
              </a:rPr>
              <a:t>)——</a:t>
            </a:r>
            <a:r>
              <a:rPr lang="zh-CN" altLang="en-US" sz="2800" dirty="0">
                <a:solidFill>
                  <a:srgbClr val="000000"/>
                </a:solidFill>
              </a:rPr>
              <a:t>由它将输出量引出，再回送到控制部分。</a:t>
            </a:r>
            <a:r>
              <a:rPr lang="zh-CN" altLang="en-US" sz="2800" dirty="0" smtClean="0"/>
              <a:t>      </a:t>
            </a:r>
            <a:endParaRPr lang="en-US" altLang="zh-CN" sz="2800" dirty="0" smtClean="0"/>
          </a:p>
          <a:p>
            <a:pPr marL="0" indent="0" latinLnBrk="0">
              <a:lnSpc>
                <a:spcPct val="130000"/>
              </a:lnSpc>
              <a:spcBef>
                <a:spcPts val="0"/>
              </a:spcBef>
              <a:buNone/>
              <a:defRPr/>
            </a:pPr>
            <a:r>
              <a:rPr lang="en-US" altLang="zh-CN" sz="2800" dirty="0"/>
              <a:t> </a:t>
            </a:r>
            <a:r>
              <a:rPr lang="en-US" altLang="zh-CN" sz="2800" dirty="0" smtClean="0"/>
              <a:t>      </a:t>
            </a:r>
            <a:r>
              <a:rPr lang="zh-CN" altLang="en-US" sz="2800" dirty="0" smtClean="0"/>
              <a:t>各个元件的排列，通常将给定元件放在最左端，控制对象排在最右端。即输入量在最左端，输出量在最右端。从左至右</a:t>
            </a:r>
            <a:r>
              <a:rPr lang="en-US" altLang="zh-CN" sz="2800" dirty="0" smtClean="0"/>
              <a:t>(</a:t>
            </a:r>
            <a:r>
              <a:rPr lang="zh-CN" altLang="en-US" sz="2800" dirty="0" smtClean="0"/>
              <a:t>即从输入至输出</a:t>
            </a:r>
            <a:r>
              <a:rPr lang="en-US" altLang="zh-CN" sz="2800" dirty="0" smtClean="0"/>
              <a:t>)</a:t>
            </a:r>
            <a:r>
              <a:rPr lang="zh-CN" altLang="en-US" sz="2800" dirty="0" smtClean="0"/>
              <a:t>的通道称为顺馈通道（</a:t>
            </a:r>
            <a:r>
              <a:rPr lang="en-US" altLang="zh-CN" sz="2800" dirty="0" err="1" smtClean="0">
                <a:latin typeface="Times New Roman" panose="02020603050405020304" pitchFamily="18" charset="0"/>
              </a:rPr>
              <a:t>Feedforword</a:t>
            </a:r>
            <a:r>
              <a:rPr lang="en-US" altLang="zh-CN" sz="2800" dirty="0" smtClean="0">
                <a:latin typeface="Times New Roman" panose="02020603050405020304" pitchFamily="18" charset="0"/>
              </a:rPr>
              <a:t> Path</a:t>
            </a:r>
            <a:r>
              <a:rPr lang="en-US" altLang="zh-CN" sz="2800" dirty="0" smtClean="0"/>
              <a:t>)</a:t>
            </a:r>
            <a:r>
              <a:rPr lang="zh-CN" altLang="en-US" sz="2800" dirty="0" smtClean="0"/>
              <a:t>或前向通路</a:t>
            </a:r>
            <a:r>
              <a:rPr lang="en-US" altLang="zh-CN" sz="2800" dirty="0" smtClean="0"/>
              <a:t>(</a:t>
            </a:r>
            <a:r>
              <a:rPr lang="en-US" altLang="zh-CN" sz="2800" dirty="0" err="1" smtClean="0">
                <a:latin typeface="Times New Roman" panose="02020603050405020304" pitchFamily="18" charset="0"/>
              </a:rPr>
              <a:t>Forword</a:t>
            </a:r>
            <a:r>
              <a:rPr lang="en-US" altLang="zh-CN" sz="2800" dirty="0" smtClean="0">
                <a:latin typeface="Times New Roman" panose="02020603050405020304" pitchFamily="18" charset="0"/>
              </a:rPr>
              <a:t> Path</a:t>
            </a:r>
            <a:r>
              <a:rPr lang="en-US" altLang="zh-CN" sz="2800" dirty="0" smtClean="0"/>
              <a:t>)</a:t>
            </a:r>
            <a:r>
              <a:rPr lang="zh-CN" altLang="en-US" sz="2800" dirty="0" smtClean="0"/>
              <a:t>，将输出信号引回输入端的通道称为反馈通道或反馈回路</a:t>
            </a:r>
            <a:r>
              <a:rPr lang="en-US" altLang="zh-CN" sz="2800" dirty="0" smtClean="0"/>
              <a:t>(</a:t>
            </a:r>
            <a:r>
              <a:rPr lang="en-US" altLang="zh-CN" sz="2800" dirty="0" smtClean="0">
                <a:latin typeface="Times New Roman" panose="02020603050405020304" pitchFamily="18" charset="0"/>
              </a:rPr>
              <a:t>Feedback Path</a:t>
            </a:r>
            <a:r>
              <a:rPr lang="en-US" altLang="zh-CN" sz="2800" dirty="0" smtClean="0"/>
              <a:t>)</a:t>
            </a:r>
            <a:r>
              <a:rPr lang="zh-CN" altLang="en-US" sz="2800" dirty="0" smtClean="0"/>
              <a:t>。（参见</a:t>
            </a:r>
            <a:r>
              <a:rPr lang="zh-CN" altLang="en-US" sz="2800" dirty="0">
                <a:latin typeface="+mn-ea"/>
              </a:rPr>
              <a:t>图</a:t>
            </a:r>
            <a:r>
              <a:rPr lang="en-US" altLang="zh-CN" sz="2800" dirty="0">
                <a:latin typeface="+mn-ea"/>
              </a:rPr>
              <a:t>1-6</a:t>
            </a:r>
            <a:r>
              <a:rPr lang="zh-CN" altLang="en-US" sz="2800" dirty="0" smtClean="0"/>
              <a:t>）</a:t>
            </a:r>
          </a:p>
          <a:p>
            <a:pPr>
              <a:defRPr/>
            </a:pPr>
            <a:endParaRPr lang="zh-CN" altLang="en-US" dirty="0" smtClean="0"/>
          </a:p>
          <a:p>
            <a:pPr>
              <a:defRPr/>
            </a:pPr>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5"/>
          <p:cNvSpPr>
            <a:spLocks noGrp="1"/>
          </p:cNvSpPr>
          <p:nvPr>
            <p:ph idx="1"/>
          </p:nvPr>
        </p:nvSpPr>
        <p:spPr>
          <a:xfrm>
            <a:off x="431800" y="1178700"/>
            <a:ext cx="8229600" cy="5130025"/>
          </a:xfrm>
        </p:spPr>
        <p:txBody>
          <a:bodyPr/>
          <a:lstStyle/>
          <a:p>
            <a:pPr marL="0">
              <a:lnSpc>
                <a:spcPct val="130000"/>
              </a:lnSpc>
              <a:spcBef>
                <a:spcPts val="0"/>
              </a:spcBef>
              <a:buFontTx/>
              <a:buNone/>
            </a:pPr>
            <a:r>
              <a:rPr lang="en-US" altLang="zh-CN" sz="2800" dirty="0" smtClean="0"/>
              <a:t>2.</a:t>
            </a:r>
            <a:r>
              <a:rPr lang="zh-CN" altLang="en-US" sz="2800" dirty="0" smtClean="0"/>
              <a:t>系统（图</a:t>
            </a:r>
            <a:r>
              <a:rPr lang="en-US" altLang="zh-CN" sz="2800" dirty="0" smtClean="0">
                <a:latin typeface="Times New Roman" panose="02020603050405020304" pitchFamily="18" charset="0"/>
              </a:rPr>
              <a:t>1-6</a:t>
            </a:r>
            <a:r>
              <a:rPr lang="zh-CN" altLang="en-US" sz="2800" dirty="0" smtClean="0"/>
              <a:t>）的各种作用量和被控制量有：</a:t>
            </a:r>
            <a:br>
              <a:rPr lang="zh-CN" altLang="en-US" sz="2800" dirty="0" smtClean="0"/>
            </a:br>
            <a:r>
              <a:rPr lang="zh-CN" altLang="en-US" sz="2800" dirty="0" smtClean="0"/>
              <a:t>　　①输入量</a:t>
            </a:r>
            <a:r>
              <a:rPr lang="en-US" altLang="zh-CN" sz="2800" dirty="0" smtClean="0"/>
              <a:t>(</a:t>
            </a:r>
            <a:r>
              <a:rPr lang="en-US" altLang="zh-CN" sz="2800" dirty="0" smtClean="0">
                <a:latin typeface="Times New Roman" panose="02020603050405020304" pitchFamily="18" charset="0"/>
              </a:rPr>
              <a:t>Input Variable</a:t>
            </a:r>
            <a:r>
              <a:rPr lang="en-US" altLang="zh-CN" sz="2800" dirty="0" smtClean="0"/>
              <a:t>)——</a:t>
            </a:r>
            <a:r>
              <a:rPr lang="zh-CN" altLang="en-US" sz="2800" dirty="0" smtClean="0"/>
              <a:t>又称控制量或参考输入量</a:t>
            </a:r>
            <a:r>
              <a:rPr lang="en-US" altLang="zh-CN" sz="2800" dirty="0" smtClean="0"/>
              <a:t>(</a:t>
            </a:r>
            <a:r>
              <a:rPr lang="en-US" altLang="zh-CN" sz="2800" dirty="0" smtClean="0">
                <a:latin typeface="Times New Roman" panose="02020603050405020304" pitchFamily="18" charset="0"/>
              </a:rPr>
              <a:t>Reference Input Variable</a:t>
            </a:r>
            <a:r>
              <a:rPr lang="en-US" altLang="zh-CN" sz="2800" dirty="0" smtClean="0"/>
              <a:t>)</a:t>
            </a:r>
            <a:r>
              <a:rPr lang="zh-CN" altLang="en-US" sz="2800" dirty="0" smtClean="0"/>
              <a:t>，所以输入量的角标常用</a:t>
            </a:r>
            <a:r>
              <a:rPr lang="en-US" altLang="zh-CN" sz="2800" dirty="0" smtClean="0">
                <a:latin typeface="Times New Roman" panose="02020603050405020304" pitchFamily="18" charset="0"/>
              </a:rPr>
              <a:t>i</a:t>
            </a:r>
            <a:r>
              <a:rPr lang="en-US" altLang="zh-CN" sz="2800" dirty="0" smtClean="0"/>
              <a:t>(</a:t>
            </a:r>
            <a:r>
              <a:rPr lang="zh-CN" altLang="en-US" sz="2800" dirty="0" smtClean="0"/>
              <a:t>或</a:t>
            </a:r>
            <a:r>
              <a:rPr lang="en-US" altLang="zh-CN" sz="2800" dirty="0" smtClean="0">
                <a:latin typeface="Times New Roman" panose="02020603050405020304" pitchFamily="18" charset="0"/>
              </a:rPr>
              <a:t>r</a:t>
            </a:r>
            <a:r>
              <a:rPr lang="en-US" altLang="zh-CN" sz="2800" dirty="0" smtClean="0"/>
              <a:t>)</a:t>
            </a:r>
            <a:r>
              <a:rPr lang="zh-CN" altLang="en-US" sz="2800" dirty="0" smtClean="0"/>
              <a:t>表示。</a:t>
            </a:r>
            <a:br>
              <a:rPr lang="zh-CN" altLang="en-US" sz="2800" dirty="0" smtClean="0"/>
            </a:br>
            <a:r>
              <a:rPr lang="zh-CN" altLang="en-US" sz="2800" dirty="0" smtClean="0"/>
              <a:t>　　②输出量</a:t>
            </a:r>
            <a:r>
              <a:rPr lang="en-US" altLang="zh-CN" sz="2800" dirty="0" smtClean="0"/>
              <a:t>(</a:t>
            </a:r>
            <a:r>
              <a:rPr lang="en-US" altLang="zh-CN" sz="2800" dirty="0" smtClean="0">
                <a:latin typeface="Times New Roman" panose="02020603050405020304" pitchFamily="18" charset="0"/>
              </a:rPr>
              <a:t>Output Variable</a:t>
            </a:r>
            <a:r>
              <a:rPr lang="en-US" altLang="zh-CN" sz="2800" dirty="0" smtClean="0"/>
              <a:t>)——</a:t>
            </a:r>
            <a:r>
              <a:rPr lang="zh-CN" altLang="en-US" sz="2800" dirty="0" smtClean="0"/>
              <a:t>又称被控制量</a:t>
            </a:r>
            <a:r>
              <a:rPr lang="en-US" altLang="zh-CN" sz="2800" dirty="0" smtClean="0"/>
              <a:t>(</a:t>
            </a:r>
            <a:r>
              <a:rPr lang="en-US" altLang="zh-CN" sz="2800" dirty="0" smtClean="0">
                <a:latin typeface="Times New Roman" panose="02020603050405020304" pitchFamily="18" charset="0"/>
              </a:rPr>
              <a:t>Controlled Variable</a:t>
            </a:r>
            <a:r>
              <a:rPr lang="en-US" altLang="zh-CN" sz="2800" dirty="0" smtClean="0"/>
              <a:t>)</a:t>
            </a:r>
            <a:r>
              <a:rPr lang="zh-CN" altLang="en-US" sz="2800" dirty="0" smtClean="0"/>
              <a:t>，所以输出量角标常用</a:t>
            </a:r>
            <a:r>
              <a:rPr lang="en-US" altLang="zh-CN" sz="2800" dirty="0" smtClean="0">
                <a:latin typeface="Times New Roman" panose="02020603050405020304" pitchFamily="18" charset="0"/>
              </a:rPr>
              <a:t>o</a:t>
            </a:r>
            <a:r>
              <a:rPr lang="en-US" altLang="zh-CN" sz="2800" dirty="0" smtClean="0"/>
              <a:t>(</a:t>
            </a:r>
            <a:r>
              <a:rPr lang="zh-CN" altLang="en-US" sz="2800" dirty="0" smtClean="0"/>
              <a:t>或</a:t>
            </a:r>
            <a:r>
              <a:rPr lang="en-US" altLang="zh-CN" sz="2800" dirty="0" smtClean="0">
                <a:latin typeface="Times New Roman" panose="02020603050405020304" pitchFamily="18" charset="0"/>
              </a:rPr>
              <a:t>c</a:t>
            </a:r>
            <a:r>
              <a:rPr lang="en-US" altLang="zh-CN" sz="2800" dirty="0" smtClean="0"/>
              <a:t>)</a:t>
            </a:r>
            <a:r>
              <a:rPr lang="zh-CN" altLang="en-US" sz="2800" dirty="0" smtClean="0"/>
              <a:t>表示。</a:t>
            </a:r>
            <a:br>
              <a:rPr lang="zh-CN" altLang="en-US" sz="2800" dirty="0" smtClean="0"/>
            </a:br>
            <a:r>
              <a:rPr lang="zh-CN" altLang="en-US" sz="2800" dirty="0" smtClean="0"/>
              <a:t>　　③反馈量</a:t>
            </a:r>
            <a:r>
              <a:rPr lang="en-US" altLang="zh-CN" sz="2800" dirty="0" smtClean="0"/>
              <a:t>(</a:t>
            </a:r>
            <a:r>
              <a:rPr lang="en-US" altLang="zh-CN" sz="2800" dirty="0" smtClean="0">
                <a:latin typeface="Times New Roman" panose="02020603050405020304" pitchFamily="18" charset="0"/>
              </a:rPr>
              <a:t>Feedback Variable</a:t>
            </a:r>
            <a:r>
              <a:rPr lang="en-US" altLang="zh-CN" sz="2800" dirty="0" smtClean="0"/>
              <a:t>)——</a:t>
            </a:r>
            <a:r>
              <a:rPr lang="zh-CN" altLang="en-US" sz="2800" dirty="0" smtClean="0"/>
              <a:t>反馈量的角标常以</a:t>
            </a:r>
            <a:r>
              <a:rPr lang="en-US" altLang="zh-CN" sz="2800" dirty="0" smtClean="0">
                <a:latin typeface="Times New Roman" panose="02020603050405020304" pitchFamily="18" charset="0"/>
              </a:rPr>
              <a:t>f</a:t>
            </a:r>
            <a:r>
              <a:rPr lang="zh-CN" altLang="en-US" sz="2800" dirty="0" smtClean="0"/>
              <a:t>表示。</a:t>
            </a:r>
            <a:br>
              <a:rPr lang="zh-CN" altLang="en-US" sz="2800" dirty="0" smtClean="0"/>
            </a:br>
            <a:r>
              <a:rPr lang="zh-CN" altLang="en-US" sz="2800" dirty="0" smtClean="0"/>
              <a:t>　　</a:t>
            </a:r>
            <a:endParaRPr lang="zh-CN" altLang="en-US"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1747" name="内容占位符 5"/>
              <p:cNvSpPr>
                <a:spLocks noGrp="1"/>
              </p:cNvSpPr>
              <p:nvPr>
                <p:ph idx="1"/>
              </p:nvPr>
            </p:nvSpPr>
            <p:spPr>
              <a:xfrm>
                <a:off x="457200" y="1088688"/>
                <a:ext cx="8229600" cy="5037475"/>
              </a:xfrm>
            </p:spPr>
            <p:txBody>
              <a:bodyPr/>
              <a:lstStyle/>
              <a:p>
                <a:pPr marL="0" eaLnBrk="1">
                  <a:lnSpc>
                    <a:spcPct val="120000"/>
                  </a:lnSpc>
                  <a:spcBef>
                    <a:spcPts val="0"/>
                  </a:spcBef>
                  <a:buFontTx/>
                  <a:buNone/>
                </a:pPr>
                <a:r>
                  <a:rPr lang="zh-CN" altLang="en-US" sz="2800" dirty="0" smtClean="0"/>
                  <a:t>       ④扰动量</a:t>
                </a:r>
                <a:r>
                  <a:rPr lang="en-US" altLang="zh-CN" sz="2800" dirty="0" smtClean="0"/>
                  <a:t>(</a:t>
                </a:r>
                <a:r>
                  <a:rPr lang="en-US" altLang="zh-CN" sz="2800" dirty="0" err="1" smtClean="0">
                    <a:latin typeface="Times New Roman" panose="02020603050405020304" pitchFamily="18" charset="0"/>
                  </a:rPr>
                  <a:t>Distrubance</a:t>
                </a:r>
                <a:r>
                  <a:rPr lang="en-US" altLang="zh-CN" sz="2800" dirty="0" smtClean="0">
                    <a:latin typeface="Times New Roman" panose="02020603050405020304" pitchFamily="18" charset="0"/>
                  </a:rPr>
                  <a:t> Variable</a:t>
                </a:r>
                <a:r>
                  <a:rPr lang="en-US" altLang="zh-CN" sz="2800" dirty="0" smtClean="0"/>
                  <a:t>)——</a:t>
                </a:r>
                <a:r>
                  <a:rPr lang="zh-CN" altLang="en-US" sz="2800" dirty="0" smtClean="0"/>
                  <a:t>又称干扰或“噪声”</a:t>
                </a:r>
                <a:r>
                  <a:rPr lang="en-US" altLang="zh-CN" sz="2800" dirty="0" smtClean="0"/>
                  <a:t>(</a:t>
                </a:r>
                <a:r>
                  <a:rPr lang="en-US" altLang="zh-CN" sz="2800" dirty="0" smtClean="0">
                    <a:latin typeface="Times New Roman" panose="02020603050405020304" pitchFamily="18" charset="0"/>
                  </a:rPr>
                  <a:t>Noise</a:t>
                </a:r>
                <a:r>
                  <a:rPr lang="en-US" altLang="zh-CN" sz="2800" dirty="0" smtClean="0"/>
                  <a:t>)</a:t>
                </a:r>
                <a:r>
                  <a:rPr lang="zh-CN" altLang="en-US" sz="2800" dirty="0" smtClean="0"/>
                  <a:t>，所以扰动量的角标常以</a:t>
                </a:r>
                <a14:m>
                  <m:oMath xmlns:m="http://schemas.openxmlformats.org/officeDocument/2006/math">
                    <m:r>
                      <a:rPr lang="en-US" altLang="zh-CN" sz="2800" i="1" dirty="0" smtClean="0">
                        <a:latin typeface="Cambria Math"/>
                      </a:rPr>
                      <m:t>𝑑</m:t>
                    </m:r>
                  </m:oMath>
                </a14:m>
                <a:r>
                  <a:rPr lang="en-US" altLang="zh-CN" sz="2800" dirty="0" smtClean="0"/>
                  <a:t>(</a:t>
                </a:r>
                <a:r>
                  <a:rPr lang="zh-CN" altLang="en-US" sz="2800" dirty="0" smtClean="0"/>
                  <a:t>或</a:t>
                </a:r>
                <a14:m>
                  <m:oMath xmlns:m="http://schemas.openxmlformats.org/officeDocument/2006/math">
                    <m:r>
                      <a:rPr lang="en-US" altLang="zh-CN" sz="2800" i="1" dirty="0" smtClean="0">
                        <a:latin typeface="Cambria Math"/>
                      </a:rPr>
                      <m:t>𝑛</m:t>
                    </m:r>
                  </m:oMath>
                </a14:m>
                <a:r>
                  <a:rPr lang="en-US" altLang="zh-CN" sz="2800" dirty="0" smtClean="0"/>
                  <a:t>)</a:t>
                </a:r>
                <a:r>
                  <a:rPr lang="zh-CN" altLang="en-US" sz="2800" dirty="0" smtClean="0"/>
                  <a:t>表示。</a:t>
                </a:r>
                <a:endParaRPr lang="en-US" altLang="zh-CN" sz="2800" dirty="0" smtClean="0"/>
              </a:p>
              <a:p>
                <a:pPr marL="0" eaLnBrk="1">
                  <a:lnSpc>
                    <a:spcPct val="120000"/>
                  </a:lnSpc>
                  <a:spcBef>
                    <a:spcPts val="0"/>
                  </a:spcBef>
                  <a:buFontTx/>
                  <a:buNone/>
                </a:pPr>
                <a:r>
                  <a:rPr lang="zh-CN" altLang="en-US" sz="2800" dirty="0" smtClean="0"/>
                  <a:t>       ⑤中间变量</a:t>
                </a:r>
                <a:r>
                  <a:rPr lang="en-US" altLang="zh-CN" sz="2800" dirty="0" smtClean="0"/>
                  <a:t>——</a:t>
                </a:r>
                <a:r>
                  <a:rPr lang="zh-CN" altLang="en-US" sz="2800" dirty="0" smtClean="0"/>
                  <a:t>它是系统各环节之间的作用量。它是前一环节的输出量，也是后一环节的输入量。如</a:t>
                </a:r>
                <a:r>
                  <a:rPr lang="zh-CN" altLang="en-US" sz="2800" dirty="0">
                    <a:latin typeface="+mn-ea"/>
                  </a:rPr>
                  <a:t>图</a:t>
                </a:r>
                <a:r>
                  <a:rPr lang="en-US" altLang="zh-CN" sz="2800" dirty="0">
                    <a:latin typeface="+mn-ea"/>
                  </a:rPr>
                  <a:t>1-6</a:t>
                </a:r>
                <a:r>
                  <a:rPr lang="zh-CN" altLang="en-US" sz="2800" dirty="0" smtClean="0"/>
                  <a:t>中的</a:t>
                </a:r>
                <a14:m>
                  <m:oMath xmlns:m="http://schemas.openxmlformats.org/officeDocument/2006/math">
                    <m:r>
                      <a:rPr lang="zh-CN" altLang="en-US" sz="2800" i="1" dirty="0" smtClean="0">
                        <a:latin typeface="Cambria Math"/>
                      </a:rPr>
                      <m:t>△</m:t>
                    </m:r>
                    <m:r>
                      <a:rPr lang="en-US" altLang="zh-CN" sz="2800" i="1" dirty="0" smtClean="0">
                        <a:latin typeface="Cambria Math"/>
                      </a:rPr>
                      <m:t>𝑈</m:t>
                    </m:r>
                    <m:r>
                      <a:rPr lang="zh-CN" altLang="en-US" sz="2800" i="1" dirty="0" smtClean="0">
                        <a:latin typeface="Cambria Math"/>
                      </a:rPr>
                      <m:t>、</m:t>
                    </m:r>
                    <m:r>
                      <a:rPr lang="en-US" altLang="zh-CN" sz="2800" i="1" dirty="0" err="1" smtClean="0">
                        <a:latin typeface="Cambria Math"/>
                      </a:rPr>
                      <m:t>𝑈</m:t>
                    </m:r>
                    <m:r>
                      <a:rPr lang="en-US" altLang="zh-CN" sz="2800" i="1" baseline="-25000" dirty="0" err="1" smtClean="0">
                        <a:latin typeface="Cambria Math"/>
                      </a:rPr>
                      <m:t>𝑎</m:t>
                    </m:r>
                  </m:oMath>
                </a14:m>
                <a:r>
                  <a:rPr lang="zh-CN" altLang="en-US" sz="2800" dirty="0" smtClean="0">
                    <a:latin typeface="Times New Roman" panose="02020603050405020304" pitchFamily="18" charset="0"/>
                  </a:rPr>
                  <a:t>、</a:t>
                </a:r>
                <a14:m>
                  <m:oMath xmlns:m="http://schemas.openxmlformats.org/officeDocument/2006/math">
                    <m:r>
                      <a:rPr lang="en-US" altLang="zh-CN" sz="2800" i="1" dirty="0" smtClean="0">
                        <a:latin typeface="Cambria Math"/>
                      </a:rPr>
                      <m:t>𝑈</m:t>
                    </m:r>
                    <m:r>
                      <a:rPr lang="en-US" altLang="zh-CN" sz="2800" i="1" baseline="-25000" dirty="0" smtClean="0">
                        <a:latin typeface="Cambria Math"/>
                      </a:rPr>
                      <m:t>𝑅</m:t>
                    </m:r>
                  </m:oMath>
                </a14:m>
                <a:r>
                  <a:rPr lang="zh-CN" altLang="en-US" sz="2800" dirty="0" smtClean="0"/>
                  <a:t>等就是中间变量</a:t>
                </a:r>
                <a:r>
                  <a:rPr lang="zh-CN" altLang="en-US" sz="2800" dirty="0" smtClean="0"/>
                  <a:t>。</a:t>
                </a:r>
                <a:r>
                  <a:rPr lang="zh-CN" altLang="en-US" sz="2800" dirty="0" smtClean="0"/>
                  <a:t/>
                </a:r>
                <a:br>
                  <a:rPr lang="zh-CN" altLang="en-US" sz="2800" dirty="0" smtClean="0"/>
                </a:br>
                <a:r>
                  <a:rPr lang="zh-CN" altLang="en-US" sz="2800" dirty="0" smtClean="0"/>
                  <a:t>　　由</a:t>
                </a:r>
                <a:r>
                  <a:rPr lang="zh-CN" altLang="en-US" sz="2800" dirty="0">
                    <a:latin typeface="+mn-ea"/>
                  </a:rPr>
                  <a:t>图</a:t>
                </a:r>
                <a:r>
                  <a:rPr lang="en-US" altLang="zh-CN" sz="2800" dirty="0">
                    <a:latin typeface="+mn-ea"/>
                  </a:rPr>
                  <a:t>1-6</a:t>
                </a:r>
                <a:r>
                  <a:rPr lang="zh-CN" altLang="en-US" sz="2800" dirty="0" smtClean="0"/>
                  <a:t>可以看到，框图可以直观地将系统的组成、各环节间的相互关系以及各种作用量的传递情况简单明了地概括出来。</a:t>
                </a:r>
              </a:p>
            </p:txBody>
          </p:sp>
        </mc:Choice>
        <mc:Fallback>
          <p:sp>
            <p:nvSpPr>
              <p:cNvPr id="31747" name="内容占位符 5"/>
              <p:cNvSpPr>
                <a:spLocks noGrp="1" noRot="1" noChangeAspect="1" noMove="1" noResize="1" noEditPoints="1" noAdjustHandles="1" noChangeArrowheads="1" noChangeShapeType="1" noTextEdit="1"/>
              </p:cNvSpPr>
              <p:nvPr>
                <p:ph idx="1"/>
              </p:nvPr>
            </p:nvSpPr>
            <p:spPr>
              <a:xfrm>
                <a:off x="457200" y="1088688"/>
                <a:ext cx="8229600" cy="5037475"/>
              </a:xfrm>
              <a:blipFill rotWithShape="1">
                <a:blip r:embed="rId2"/>
                <a:stretch>
                  <a:fillRect l="-1481" t="-847" r="-59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1"/>
          </p:nvPr>
        </p:nvSpPr>
        <p:spPr>
          <a:xfrm>
            <a:off x="431800" y="548617"/>
            <a:ext cx="8229600" cy="5580722"/>
          </a:xfrm>
        </p:spPr>
        <p:txBody>
          <a:bodyPr/>
          <a:lstStyle/>
          <a:p>
            <a:pPr>
              <a:lnSpc>
                <a:spcPct val="120000"/>
              </a:lnSpc>
              <a:buFontTx/>
              <a:buNone/>
            </a:pPr>
            <a:r>
              <a:rPr lang="en-US" altLang="zh-CN" sz="2800" dirty="0" smtClean="0"/>
              <a:t>       </a:t>
            </a:r>
            <a:r>
              <a:rPr lang="zh-CN" altLang="en-US" sz="2800" dirty="0" smtClean="0"/>
              <a:t>综上所述，要了解一个实际的自动控制系统的组成，要画出组成系统的框图，就必须明确下面的一些问题：    </a:t>
            </a:r>
            <a:endParaRPr lang="en-US" altLang="zh-CN" sz="2800" dirty="0" smtClean="0"/>
          </a:p>
          <a:p>
            <a:pPr>
              <a:lnSpc>
                <a:spcPct val="120000"/>
              </a:lnSpc>
              <a:buFontTx/>
              <a:buNone/>
            </a:pPr>
            <a:r>
              <a:rPr lang="zh-CN" altLang="en-US" sz="2800" dirty="0" smtClean="0"/>
              <a:t>① 哪个是控制对象</a:t>
            </a:r>
            <a:r>
              <a:rPr lang="en-US" altLang="zh-CN" sz="2800" dirty="0" smtClean="0">
                <a:latin typeface="Times New Roman" panose="02020603050405020304" pitchFamily="18" charset="0"/>
              </a:rPr>
              <a:t>?</a:t>
            </a:r>
            <a:r>
              <a:rPr lang="zh-CN" altLang="en-US" sz="2800" dirty="0" smtClean="0"/>
              <a:t>被控量是什么</a:t>
            </a:r>
            <a:r>
              <a:rPr lang="en-US" altLang="zh-CN" sz="2800" dirty="0" smtClean="0">
                <a:latin typeface="Times New Roman" panose="02020603050405020304" pitchFamily="18" charset="0"/>
              </a:rPr>
              <a:t>?</a:t>
            </a:r>
            <a:r>
              <a:rPr lang="zh-CN" altLang="en-US" sz="2800" dirty="0" smtClean="0"/>
              <a:t>影响被控量的主扰动量是什么</a:t>
            </a:r>
            <a:r>
              <a:rPr lang="en-US" altLang="zh-CN" sz="2800" dirty="0" smtClean="0">
                <a:latin typeface="Times New Roman" panose="02020603050405020304" pitchFamily="18" charset="0"/>
              </a:rPr>
              <a:t>?</a:t>
            </a:r>
            <a:r>
              <a:rPr lang="en-US" altLang="zh-CN" sz="2800" dirty="0" smtClean="0"/>
              <a:t></a:t>
            </a:r>
          </a:p>
          <a:p>
            <a:pPr>
              <a:lnSpc>
                <a:spcPct val="120000"/>
              </a:lnSpc>
              <a:buFontTx/>
              <a:buNone/>
            </a:pPr>
            <a:r>
              <a:rPr lang="zh-CN" altLang="en-US" sz="2800" dirty="0" smtClean="0"/>
              <a:t>② 哪个是执行元件</a:t>
            </a:r>
            <a:r>
              <a:rPr lang="en-US" altLang="zh-CN" sz="2800" dirty="0" smtClean="0">
                <a:latin typeface="Times New Roman" panose="02020603050405020304" pitchFamily="18" charset="0"/>
              </a:rPr>
              <a:t>?</a:t>
            </a:r>
          </a:p>
          <a:p>
            <a:pPr>
              <a:lnSpc>
                <a:spcPct val="120000"/>
              </a:lnSpc>
              <a:buFontTx/>
              <a:buNone/>
            </a:pPr>
            <a:r>
              <a:rPr lang="zh-CN" altLang="en-US" sz="2800" dirty="0" smtClean="0"/>
              <a:t>③ 测量被控量的元件有哪些</a:t>
            </a:r>
            <a:r>
              <a:rPr lang="en-US" altLang="zh-CN" sz="2800" dirty="0" smtClean="0">
                <a:latin typeface="Times New Roman" panose="02020603050405020304" pitchFamily="18" charset="0"/>
              </a:rPr>
              <a:t>?</a:t>
            </a:r>
            <a:r>
              <a:rPr lang="zh-CN" altLang="en-US" sz="2800" dirty="0" smtClean="0"/>
              <a:t>有哪些反馈环节</a:t>
            </a:r>
            <a:r>
              <a:rPr lang="en-US" altLang="zh-CN" sz="2800" dirty="0" smtClean="0">
                <a:latin typeface="Times New Roman" panose="02020603050405020304" pitchFamily="18" charset="0"/>
              </a:rPr>
              <a:t>?</a:t>
            </a:r>
          </a:p>
          <a:p>
            <a:pPr>
              <a:lnSpc>
                <a:spcPct val="120000"/>
              </a:lnSpc>
              <a:buFontTx/>
              <a:buNone/>
            </a:pPr>
            <a:r>
              <a:rPr lang="zh-CN" altLang="en-US" sz="2800" dirty="0" smtClean="0"/>
              <a:t>④ 输入量是由哪个元件给定的</a:t>
            </a:r>
            <a:r>
              <a:rPr lang="en-US" altLang="zh-CN" sz="2800" dirty="0" smtClean="0">
                <a:latin typeface="Times New Roman" panose="02020603050405020304" pitchFamily="18" charset="0"/>
              </a:rPr>
              <a:t>?</a:t>
            </a:r>
            <a:r>
              <a:rPr lang="zh-CN" altLang="en-US" sz="2800" dirty="0" smtClean="0"/>
              <a:t>反馈量与给定量是如何进行比较的</a:t>
            </a:r>
            <a:r>
              <a:rPr lang="en-US" altLang="zh-CN" sz="2800" dirty="0" smtClean="0">
                <a:latin typeface="Times New Roman" panose="02020603050405020304" pitchFamily="18" charset="0"/>
              </a:rPr>
              <a:t>?</a:t>
            </a:r>
          </a:p>
          <a:p>
            <a:pPr>
              <a:lnSpc>
                <a:spcPct val="120000"/>
              </a:lnSpc>
              <a:buFontTx/>
              <a:buNone/>
            </a:pPr>
            <a:r>
              <a:rPr lang="zh-CN" altLang="en-US" sz="2800" dirty="0" smtClean="0"/>
              <a:t>⑤ 此外还有哪些元件</a:t>
            </a:r>
            <a:r>
              <a:rPr lang="en-US" altLang="zh-CN" sz="2800" dirty="0" smtClean="0"/>
              <a:t>(</a:t>
            </a:r>
            <a:r>
              <a:rPr lang="zh-CN" altLang="en-US" sz="2800" dirty="0" smtClean="0"/>
              <a:t>或单元</a:t>
            </a:r>
            <a:r>
              <a:rPr lang="en-US" altLang="zh-CN" sz="2800" dirty="0" smtClean="0"/>
              <a:t>)</a:t>
            </a:r>
            <a:r>
              <a:rPr lang="zh-CN" altLang="en-US" sz="2800" dirty="0" smtClean="0"/>
              <a:t>，它们在系统中处于什么地位</a:t>
            </a:r>
            <a:r>
              <a:rPr lang="en-US" altLang="zh-CN" sz="2800" dirty="0" smtClean="0">
                <a:latin typeface="Times New Roman" panose="02020603050405020304" pitchFamily="18" charset="0"/>
              </a:rPr>
              <a:t>?</a:t>
            </a:r>
            <a:r>
              <a:rPr lang="zh-CN" altLang="en-US" sz="2800" dirty="0" smtClean="0"/>
              <a:t>起什么作用</a:t>
            </a:r>
            <a:r>
              <a:rPr lang="en-US" altLang="zh-CN" sz="2800" dirty="0" smtClean="0">
                <a:latin typeface="Times New Roman" panose="02020603050405020304" pitchFamily="18" charset="0"/>
              </a:rPr>
              <a:t>?</a:t>
            </a:r>
            <a:endParaRPr lang="zh-CN" altLang="en-US" sz="2800" dirty="0" smtClean="0">
              <a:latin typeface="Times New Roman" panose="02020603050405020304" pitchFamily="18" charset="0"/>
            </a:endParaRPr>
          </a:p>
          <a:p>
            <a:endParaRPr lang="zh-CN" altLang="en-US" dirty="0" smtClean="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pPr algn="l"/>
            <a:r>
              <a:rPr lang="zh-CN" altLang="en-US" sz="2800" dirty="0" smtClean="0"/>
              <a:t>通过两个例题来说明系统组成和框图</a:t>
            </a:r>
          </a:p>
        </p:txBody>
      </p:sp>
      <p:sp>
        <p:nvSpPr>
          <p:cNvPr id="34819" name="内容占位符 2"/>
          <p:cNvSpPr>
            <a:spLocks noGrp="1"/>
          </p:cNvSpPr>
          <p:nvPr>
            <p:ph idx="1"/>
          </p:nvPr>
        </p:nvSpPr>
        <p:spPr/>
        <p:txBody>
          <a:bodyPr/>
          <a:lstStyle/>
          <a:p>
            <a:pPr>
              <a:buFontTx/>
              <a:buNone/>
            </a:pPr>
            <a:r>
              <a:rPr lang="en-US" altLang="zh-CN" sz="2800" dirty="0" smtClean="0"/>
              <a:t>【</a:t>
            </a:r>
            <a:r>
              <a:rPr lang="zh-CN" altLang="en-US" sz="2800" dirty="0" smtClean="0"/>
              <a:t>例</a:t>
            </a:r>
            <a:r>
              <a:rPr lang="en-US" altLang="zh-CN" sz="2800" dirty="0" smtClean="0"/>
              <a:t>1-1】 </a:t>
            </a:r>
            <a:r>
              <a:rPr lang="zh-CN" altLang="en-US" sz="2800" dirty="0">
                <a:latin typeface="+mn-ea"/>
              </a:rPr>
              <a:t>图</a:t>
            </a:r>
            <a:r>
              <a:rPr lang="en-US" altLang="zh-CN" sz="2800" dirty="0">
                <a:latin typeface="+mn-ea"/>
              </a:rPr>
              <a:t>1-7</a:t>
            </a:r>
            <a:r>
              <a:rPr lang="zh-CN" altLang="en-US" sz="2800" dirty="0" smtClean="0"/>
              <a:t>为一个水位控制系统的示意图。</a:t>
            </a:r>
          </a:p>
          <a:p>
            <a:endParaRPr lang="zh-CN" altLang="en-US" dirty="0" smtClean="0"/>
          </a:p>
        </p:txBody>
      </p:sp>
      <p:pic>
        <p:nvPicPr>
          <p:cNvPr id="34820" name="图片 3" descr="tp1z7.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0813" y="2349500"/>
            <a:ext cx="6211887"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矩形 5"/>
          <p:cNvSpPr>
            <a:spLocks noChangeArrowheads="1"/>
          </p:cNvSpPr>
          <p:nvPr/>
        </p:nvSpPr>
        <p:spPr bwMode="auto">
          <a:xfrm>
            <a:off x="3041650" y="5761060"/>
            <a:ext cx="3190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dirty="0"/>
              <a:t>图</a:t>
            </a:r>
            <a:r>
              <a:rPr lang="en-US" altLang="zh-CN" sz="2000" dirty="0"/>
              <a:t>1-7 </a:t>
            </a:r>
            <a:r>
              <a:rPr lang="zh-CN" altLang="en-US" sz="2000" dirty="0"/>
              <a:t>水位控制系统示意图</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内容占位符 2"/>
          <p:cNvSpPr>
            <a:spLocks noGrp="1"/>
          </p:cNvSpPr>
          <p:nvPr>
            <p:ph idx="1"/>
          </p:nvPr>
        </p:nvSpPr>
        <p:spPr>
          <a:xfrm>
            <a:off x="431800" y="638175"/>
            <a:ext cx="8229600" cy="5578475"/>
          </a:xfrm>
        </p:spPr>
        <p:txBody>
          <a:bodyPr/>
          <a:lstStyle/>
          <a:p>
            <a:pPr>
              <a:buFontTx/>
              <a:buNone/>
            </a:pPr>
            <a:r>
              <a:rPr lang="en-US" altLang="zh-CN" sz="2800" dirty="0" smtClean="0"/>
              <a:t>     </a:t>
            </a:r>
            <a:r>
              <a:rPr lang="zh-CN" altLang="en-US" sz="2800" dirty="0" smtClean="0"/>
              <a:t>水位系统的组成框图，如图</a:t>
            </a:r>
            <a:r>
              <a:rPr lang="en-US" altLang="zh-CN" sz="2800" dirty="0">
                <a:latin typeface="+mn-ea"/>
              </a:rPr>
              <a:t>1-8</a:t>
            </a:r>
            <a:r>
              <a:rPr lang="zh-CN" altLang="en-US" sz="2800" dirty="0" smtClean="0"/>
              <a:t>所示</a:t>
            </a:r>
          </a:p>
          <a:p>
            <a:pPr marL="0" indent="0">
              <a:buNone/>
            </a:pPr>
            <a:endParaRPr lang="zh-CN" altLang="en-US" dirty="0" smtClean="0"/>
          </a:p>
        </p:txBody>
      </p:sp>
      <p:pic>
        <p:nvPicPr>
          <p:cNvPr id="2052" name="图片 3" descr="tp1z8.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089025"/>
            <a:ext cx="619125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矩形 4"/>
          <p:cNvSpPr>
            <a:spLocks noChangeArrowheads="1"/>
          </p:cNvSpPr>
          <p:nvPr/>
        </p:nvSpPr>
        <p:spPr bwMode="auto">
          <a:xfrm>
            <a:off x="2862263" y="297815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a:solidFill>
                  <a:srgbClr val="000000"/>
                </a:solidFill>
                <a:latin typeface="宋体" panose="02010600030101010101" pitchFamily="2" charset="-122"/>
              </a:rPr>
              <a:t>图</a:t>
            </a:r>
            <a:r>
              <a:rPr lang="en-US" altLang="zh-CN" sz="2000">
                <a:solidFill>
                  <a:srgbClr val="000000"/>
                </a:solidFill>
                <a:latin typeface="宋体" panose="02010600030101010101" pitchFamily="2" charset="-122"/>
              </a:rPr>
              <a:t>1-8 </a:t>
            </a:r>
            <a:r>
              <a:rPr lang="zh-CN" altLang="en-US" sz="2000">
                <a:solidFill>
                  <a:srgbClr val="000000"/>
                </a:solidFill>
                <a:latin typeface="宋体" panose="02010600030101010101" pitchFamily="2" charset="-122"/>
              </a:rPr>
              <a:t>水位控制系统的组成框图</a:t>
            </a:r>
            <a:endParaRPr lang="zh-CN" altLang="en-US" sz="2000"/>
          </a:p>
        </p:txBody>
      </p:sp>
      <mc:AlternateContent xmlns:mc="http://schemas.openxmlformats.org/markup-compatibility/2006" xmlns:a14="http://schemas.microsoft.com/office/drawing/2010/main">
        <mc:Choice Requires="a14">
          <p:sp>
            <p:nvSpPr>
              <p:cNvPr id="2054" name="矩形 5"/>
              <p:cNvSpPr>
                <a:spLocks noChangeArrowheads="1"/>
              </p:cNvSpPr>
              <p:nvPr/>
            </p:nvSpPr>
            <p:spPr bwMode="auto">
              <a:xfrm>
                <a:off x="520700" y="3429000"/>
                <a:ext cx="8011828" cy="114396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FontTx/>
                  <a:buNone/>
                </a:pPr>
                <a:r>
                  <a:rPr lang="zh-CN" altLang="en-US" dirty="0" smtClean="0">
                    <a:solidFill>
                      <a:srgbClr val="000000"/>
                    </a:solidFill>
                    <a:latin typeface="宋体" panose="02010600030101010101" pitchFamily="2" charset="-122"/>
                  </a:rPr>
                  <a:t>直至</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𝑄</m:t>
                        </m:r>
                      </m:e>
                      <m:sub>
                        <m:r>
                          <a:rPr lang="en-US" altLang="zh-CN" b="0" i="1" smtClean="0">
                            <a:solidFill>
                              <a:srgbClr val="000000"/>
                            </a:solidFill>
                            <a:latin typeface="Cambria Math"/>
                          </a:rPr>
                          <m:t>2</m:t>
                        </m:r>
                      </m:sub>
                    </m:sSub>
                    <m:r>
                      <a:rPr lang="en-US" altLang="zh-CN" b="0" i="1" smtClean="0">
                        <a:solidFill>
                          <a:srgbClr val="000000"/>
                        </a:solidFill>
                        <a:latin typeface="Cambria Math"/>
                      </a:rPr>
                      <m:t>=</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𝑄</m:t>
                        </m:r>
                      </m:e>
                      <m:sub>
                        <m:r>
                          <a:rPr lang="en-US" altLang="zh-CN" b="0" i="1" smtClean="0">
                            <a:solidFill>
                              <a:srgbClr val="000000"/>
                            </a:solidFill>
                            <a:latin typeface="Cambria Math"/>
                          </a:rPr>
                          <m:t>2</m:t>
                        </m:r>
                      </m:sub>
                    </m:sSub>
                    <m:r>
                      <a:rPr lang="en-US" altLang="zh-CN" b="0" i="1" smtClean="0">
                        <a:solidFill>
                          <a:srgbClr val="000000"/>
                        </a:solidFill>
                        <a:latin typeface="Cambria Math"/>
                      </a:rPr>
                      <m:t>,</m:t>
                    </m:r>
                    <m:r>
                      <a:rPr lang="en-US" altLang="zh-CN" b="0" i="1" smtClean="0">
                        <a:solidFill>
                          <a:srgbClr val="000000"/>
                        </a:solidFill>
                        <a:latin typeface="Cambria Math"/>
                      </a:rPr>
                      <m:t>𝐻</m:t>
                    </m:r>
                    <m:r>
                      <a:rPr lang="en-US" altLang="zh-CN" b="0" i="1" smtClean="0">
                        <a:solidFill>
                          <a:srgbClr val="000000"/>
                        </a:solidFill>
                        <a:latin typeface="Cambria Math"/>
                      </a:rPr>
                      <m:t>=</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𝐻</m:t>
                        </m:r>
                      </m:e>
                      <m:sub>
                        <m:r>
                          <a:rPr lang="en-US" altLang="zh-CN" b="0" i="1" smtClean="0">
                            <a:solidFill>
                              <a:srgbClr val="000000"/>
                            </a:solidFill>
                            <a:latin typeface="Cambria Math"/>
                          </a:rPr>
                          <m:t>0</m:t>
                        </m:r>
                      </m:sub>
                    </m:sSub>
                    <m:r>
                      <a:rPr lang="en-US" altLang="zh-CN" b="0" i="1" smtClean="0">
                        <a:solidFill>
                          <a:srgbClr val="000000"/>
                        </a:solidFill>
                        <a:latin typeface="Cambria Math"/>
                      </a:rPr>
                      <m:t>,</m:t>
                    </m:r>
                    <m:r>
                      <a:rPr lang="en-US" altLang="zh-CN" b="0" i="1" smtClean="0">
                        <a:solidFill>
                          <a:srgbClr val="000000"/>
                        </a:solidFill>
                        <a:latin typeface="Cambria Math"/>
                        <a:ea typeface="Cambria Math"/>
                      </a:rPr>
                      <m:t>∆</m:t>
                    </m:r>
                    <m:r>
                      <a:rPr lang="en-US" altLang="zh-CN" b="0" i="1" smtClean="0">
                        <a:solidFill>
                          <a:srgbClr val="000000"/>
                        </a:solidFill>
                        <a:latin typeface="Cambria Math"/>
                        <a:ea typeface="Cambria Math"/>
                      </a:rPr>
                      <m:t>𝑈</m:t>
                    </m:r>
                    <m:r>
                      <a:rPr lang="en-US" altLang="zh-CN" b="0" i="1" smtClean="0">
                        <a:solidFill>
                          <a:srgbClr val="000000"/>
                        </a:solidFill>
                        <a:latin typeface="Cambria Math"/>
                        <a:ea typeface="Cambria Math"/>
                      </a:rPr>
                      <m:t>=0</m:t>
                    </m:r>
                  </m:oMath>
                </a14:m>
                <a:r>
                  <a:rPr lang="zh-CN" altLang="en-US" dirty="0" smtClean="0">
                    <a:solidFill>
                      <a:srgbClr val="000000"/>
                    </a:solidFill>
                    <a:latin typeface="宋体" panose="02010600030101010101" pitchFamily="2" charset="-122"/>
                  </a:rPr>
                  <a:t>时</a:t>
                </a:r>
                <a:r>
                  <a:rPr lang="zh-CN" altLang="en-US" dirty="0">
                    <a:solidFill>
                      <a:srgbClr val="000000"/>
                    </a:solidFill>
                    <a:latin typeface="宋体" panose="02010600030101010101" pitchFamily="2" charset="-122"/>
                  </a:rPr>
                  <a:t>，电动机停转为止。</a:t>
                </a:r>
              </a:p>
              <a:p>
                <a:pPr algn="ctr" eaLnBrk="1" hangingPunct="1">
                  <a:lnSpc>
                    <a:spcPct val="120000"/>
                  </a:lnSpc>
                  <a:buFontTx/>
                  <a:buNone/>
                </a:pPr>
                <a:r>
                  <a:rPr lang="zh-CN" altLang="en-US" dirty="0">
                    <a:solidFill>
                      <a:srgbClr val="000000"/>
                    </a:solidFill>
                    <a:latin typeface="宋体" panose="02010600030101010101" pitchFamily="2" charset="-122"/>
                  </a:rPr>
                  <a:t>下图为水位控制系统的自动调节过程</a:t>
                </a:r>
              </a:p>
            </p:txBody>
          </p:sp>
        </mc:Choice>
        <mc:Fallback xmlns="">
          <p:sp>
            <p:nvSpPr>
              <p:cNvPr id="2054" name="矩形 5"/>
              <p:cNvSpPr>
                <a:spLocks noRot="1" noChangeAspect="1" noMove="1" noResize="1" noEditPoints="1" noAdjustHandles="1" noChangeArrowheads="1" noChangeShapeType="1" noTextEdit="1"/>
              </p:cNvSpPr>
              <p:nvPr/>
            </p:nvSpPr>
            <p:spPr bwMode="auto">
              <a:xfrm>
                <a:off x="520700" y="3429000"/>
                <a:ext cx="8011828" cy="1143968"/>
              </a:xfrm>
              <a:prstGeom prst="rect">
                <a:avLst/>
              </a:prstGeom>
              <a:blipFill rotWithShape="1">
                <a:blip r:embed="rId3"/>
                <a:stretch>
                  <a:fillRect l="-3726" t="-3743" r="-3802" b="-139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055" name="图片 6" descr="tp1z9.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1425" y="5138738"/>
            <a:ext cx="66675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idx="1"/>
          </p:nvPr>
        </p:nvSpPr>
        <p:spPr>
          <a:xfrm>
            <a:off x="457200" y="1062990"/>
            <a:ext cx="8229600" cy="4525963"/>
          </a:xfrm>
        </p:spPr>
        <p:txBody>
          <a:bodyPr/>
          <a:lstStyle/>
          <a:p>
            <a:pPr>
              <a:buFontTx/>
              <a:buNone/>
            </a:pPr>
            <a:r>
              <a:rPr lang="en-US" altLang="zh-CN" sz="2800" smtClean="0">
                <a:solidFill>
                  <a:srgbClr val="000000"/>
                </a:solidFill>
                <a:latin typeface="宋体" panose="02010600030101010101" pitchFamily="2" charset="-122"/>
              </a:rPr>
              <a:t>【</a:t>
            </a:r>
            <a:r>
              <a:rPr lang="zh-CN" altLang="en-US" sz="2800" smtClean="0">
                <a:solidFill>
                  <a:srgbClr val="000000"/>
                </a:solidFill>
                <a:latin typeface="宋体" panose="02010600030101010101" pitchFamily="2" charset="-122"/>
              </a:rPr>
              <a:t>例</a:t>
            </a:r>
            <a:r>
              <a:rPr lang="en-US" altLang="zh-CN" sz="2800" smtClean="0">
                <a:solidFill>
                  <a:srgbClr val="000000"/>
                </a:solidFill>
                <a:latin typeface="宋体" panose="02010600030101010101" pitchFamily="2" charset="-122"/>
              </a:rPr>
              <a:t>1-2】 </a:t>
            </a:r>
            <a:r>
              <a:rPr lang="zh-CN" altLang="en-US" sz="2800" smtClean="0">
                <a:solidFill>
                  <a:srgbClr val="000000"/>
                </a:solidFill>
                <a:latin typeface="宋体" panose="02010600030101010101" pitchFamily="2" charset="-122"/>
              </a:rPr>
              <a:t>位置跟随系统。</a:t>
            </a:r>
            <a:r>
              <a:rPr lang="en-US" altLang="zh-CN" sz="2800" smtClean="0">
                <a:solidFill>
                  <a:srgbClr val="000000"/>
                </a:solidFill>
                <a:latin typeface="宋体" panose="02010600030101010101" pitchFamily="2" charset="-122"/>
              </a:rPr>
              <a:t>(1)</a:t>
            </a:r>
            <a:r>
              <a:rPr lang="zh-CN" altLang="en-US" sz="2800" smtClean="0">
                <a:solidFill>
                  <a:srgbClr val="000000"/>
                </a:solidFill>
                <a:latin typeface="宋体" panose="02010600030101010101" pitchFamily="2" charset="-122"/>
              </a:rPr>
              <a:t>系统的组成：</a:t>
            </a:r>
            <a:endParaRPr lang="zh-CN" altLang="en-US" sz="2800" smtClean="0"/>
          </a:p>
          <a:p>
            <a:endParaRPr lang="zh-CN" altLang="en-US" smtClean="0"/>
          </a:p>
        </p:txBody>
      </p:sp>
      <p:pic>
        <p:nvPicPr>
          <p:cNvPr id="35844" name="图片 3" descr="tp1z10.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1675" y="2078820"/>
            <a:ext cx="6750050"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矩形 5"/>
          <p:cNvSpPr>
            <a:spLocks noChangeArrowheads="1"/>
          </p:cNvSpPr>
          <p:nvPr/>
        </p:nvSpPr>
        <p:spPr bwMode="auto">
          <a:xfrm>
            <a:off x="3041650" y="5947728"/>
            <a:ext cx="33007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a:t>图</a:t>
            </a:r>
            <a:r>
              <a:rPr lang="en-US" altLang="zh-CN" sz="2000"/>
              <a:t>1-10 </a:t>
            </a:r>
            <a:r>
              <a:rPr lang="zh-CN" altLang="en-US" sz="2000"/>
              <a:t>位置跟随系统示意图</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内容占位符 3" descr="tp1z1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62038" y="908050"/>
            <a:ext cx="6931025" cy="1722438"/>
          </a:xfrm>
        </p:spPr>
      </p:pic>
      <p:sp>
        <p:nvSpPr>
          <p:cNvPr id="36867" name="矩形 4"/>
          <p:cNvSpPr>
            <a:spLocks noChangeArrowheads="1"/>
          </p:cNvSpPr>
          <p:nvPr/>
        </p:nvSpPr>
        <p:spPr bwMode="auto">
          <a:xfrm>
            <a:off x="2320925" y="2889250"/>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a:solidFill>
                  <a:srgbClr val="000000"/>
                </a:solidFill>
                <a:latin typeface="宋体" panose="02010600030101010101" pitchFamily="2" charset="-122"/>
              </a:rPr>
              <a:t>图</a:t>
            </a:r>
            <a:r>
              <a:rPr lang="en-US" altLang="zh-CN" sz="2000">
                <a:solidFill>
                  <a:srgbClr val="000000"/>
                </a:solidFill>
                <a:latin typeface="宋体" panose="02010600030101010101" pitchFamily="2" charset="-122"/>
              </a:rPr>
              <a:t>1-11 </a:t>
            </a:r>
            <a:r>
              <a:rPr lang="zh-CN" altLang="en-US" sz="2000">
                <a:solidFill>
                  <a:srgbClr val="000000"/>
                </a:solidFill>
                <a:latin typeface="宋体" panose="02010600030101010101" pitchFamily="2" charset="-122"/>
              </a:rPr>
              <a:t>雷达天线位置跟随系统框图</a:t>
            </a:r>
            <a:endParaRPr lang="zh-CN" altLang="en-US" sz="2000"/>
          </a:p>
        </p:txBody>
      </p:sp>
      <p:pic>
        <p:nvPicPr>
          <p:cNvPr id="36868" name="图片 5" descr="tp1z12.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789363"/>
            <a:ext cx="6786562"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矩形 6"/>
          <p:cNvSpPr>
            <a:spLocks noChangeArrowheads="1"/>
          </p:cNvSpPr>
          <p:nvPr/>
        </p:nvSpPr>
        <p:spPr bwMode="auto">
          <a:xfrm>
            <a:off x="2411413" y="5229225"/>
            <a:ext cx="5311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a:solidFill>
                  <a:srgbClr val="000000"/>
                </a:solidFill>
                <a:latin typeface="宋体" panose="02010600030101010101" pitchFamily="2" charset="-122"/>
              </a:rPr>
              <a:t>图</a:t>
            </a:r>
            <a:r>
              <a:rPr lang="en-US" altLang="zh-CN" sz="2000">
                <a:solidFill>
                  <a:srgbClr val="000000"/>
                </a:solidFill>
                <a:latin typeface="宋体" panose="02010600030101010101" pitchFamily="2" charset="-122"/>
              </a:rPr>
              <a:t>1-12 </a:t>
            </a:r>
            <a:r>
              <a:rPr lang="zh-CN" altLang="en-US" sz="2000">
                <a:solidFill>
                  <a:srgbClr val="000000"/>
                </a:solidFill>
                <a:latin typeface="宋体" panose="02010600030101010101" pitchFamily="2" charset="-122"/>
              </a:rPr>
              <a:t>雷达天线位置跟随自动调节过程</a:t>
            </a:r>
            <a:endParaRPr lang="zh-CN" altLang="en-US" sz="20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z="3600" smtClean="0"/>
              <a:t>第四节  自动控制系统的分类</a:t>
            </a:r>
          </a:p>
        </p:txBody>
      </p:sp>
      <p:sp>
        <p:nvSpPr>
          <p:cNvPr id="3" name="内容占位符 2"/>
          <p:cNvSpPr>
            <a:spLocks noGrp="1"/>
          </p:cNvSpPr>
          <p:nvPr>
            <p:ph idx="1"/>
          </p:nvPr>
        </p:nvSpPr>
        <p:spPr/>
        <p:txBody>
          <a:bodyPr/>
          <a:lstStyle/>
          <a:p>
            <a:pPr marL="0" indent="0" latinLnBrk="0">
              <a:lnSpc>
                <a:spcPct val="130000"/>
              </a:lnSpc>
              <a:spcBef>
                <a:spcPts val="0"/>
              </a:spcBef>
              <a:buFontTx/>
              <a:buNone/>
              <a:defRPr/>
            </a:pPr>
            <a:r>
              <a:rPr lang="zh-CN" altLang="en-US" sz="2800" dirty="0" smtClean="0"/>
              <a:t>一、按输入量变化规律分类</a:t>
            </a:r>
            <a:endParaRPr lang="en-US" altLang="zh-CN" sz="2800" dirty="0" smtClean="0"/>
          </a:p>
          <a:p>
            <a:pPr marL="0" indent="0" latinLnBrk="0">
              <a:lnSpc>
                <a:spcPct val="130000"/>
              </a:lnSpc>
              <a:spcBef>
                <a:spcPts val="0"/>
              </a:spcBef>
              <a:buNone/>
              <a:defRPr/>
            </a:pPr>
            <a:r>
              <a:rPr lang="en-US" altLang="zh-CN" sz="2800" b="1" dirty="0" smtClean="0">
                <a:solidFill>
                  <a:srgbClr val="000000"/>
                </a:solidFill>
                <a:latin typeface="宋体" panose="02010600030101010101" pitchFamily="2" charset="-122"/>
              </a:rPr>
              <a:t>1.</a:t>
            </a:r>
            <a:r>
              <a:rPr lang="zh-CN" altLang="en-US" sz="2800" b="1" dirty="0" smtClean="0">
                <a:solidFill>
                  <a:srgbClr val="000000"/>
                </a:solidFill>
                <a:latin typeface="宋体" panose="02010600030101010101" pitchFamily="2" charset="-122"/>
              </a:rPr>
              <a:t>恒值控制系统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Fixed Set-Point Control System</a:t>
            </a:r>
            <a:r>
              <a:rPr lang="en-US" altLang="zh-CN" sz="2800" b="1" dirty="0" smtClean="0">
                <a:solidFill>
                  <a:srgbClr val="000000"/>
                </a:solidFill>
                <a:latin typeface="宋体" panose="02010600030101010101" pitchFamily="2" charset="-122"/>
              </a:rPr>
              <a:t>)</a:t>
            </a:r>
          </a:p>
          <a:p>
            <a:pPr marL="0" indent="0" latinLnBrk="0">
              <a:lnSpc>
                <a:spcPct val="130000"/>
              </a:lnSpc>
              <a:spcBef>
                <a:spcPts val="0"/>
              </a:spcBef>
              <a:buNone/>
              <a:defRPr/>
            </a:pPr>
            <a:r>
              <a:rPr lang="en-US" altLang="zh-CN" sz="2800" b="1" dirty="0" smtClean="0">
                <a:solidFill>
                  <a:srgbClr val="000000"/>
                </a:solidFill>
                <a:latin typeface="宋体" panose="02010600030101010101" pitchFamily="2" charset="-122"/>
              </a:rPr>
              <a:t>2.</a:t>
            </a:r>
            <a:r>
              <a:rPr lang="zh-CN" altLang="en-US" sz="2800" b="1" dirty="0" smtClean="0">
                <a:solidFill>
                  <a:srgbClr val="000000"/>
                </a:solidFill>
                <a:latin typeface="宋体" panose="02010600030101010101" pitchFamily="2" charset="-122"/>
              </a:rPr>
              <a:t>随动系统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Follow-Up Control System</a:t>
            </a:r>
            <a:r>
              <a:rPr lang="en-US" altLang="zh-CN" sz="2800" b="1" dirty="0" smtClean="0">
                <a:solidFill>
                  <a:srgbClr val="000000"/>
                </a:solidFill>
                <a:latin typeface="宋体" panose="02010600030101010101" pitchFamily="2" charset="-122"/>
              </a:rPr>
              <a:t>)</a:t>
            </a:r>
            <a:r>
              <a:rPr lang="zh-CN" altLang="en-US" sz="2800" b="1" dirty="0" smtClean="0">
                <a:solidFill>
                  <a:srgbClr val="000000"/>
                </a:solidFill>
                <a:latin typeface="宋体" panose="02010600030101010101" pitchFamily="2" charset="-122"/>
              </a:rPr>
              <a:t>［又称              伺服系统</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Servo System</a:t>
            </a:r>
            <a:r>
              <a:rPr lang="en-US" altLang="zh-CN" sz="2800" b="1" dirty="0" smtClean="0">
                <a:solidFill>
                  <a:srgbClr val="000000"/>
                </a:solidFill>
                <a:latin typeface="宋体" panose="02010600030101010101" pitchFamily="2" charset="-122"/>
              </a:rPr>
              <a:t>)</a:t>
            </a:r>
            <a:r>
              <a:rPr lang="zh-CN" altLang="en-US"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随动系统的特点是：输入量是变化着的</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有时是随机的</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，并且要求系统的输出量能跟随输入量的变化而作出相应的变化。</a:t>
            </a:r>
            <a:endParaRPr lang="zh-CN" altLang="en-US"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716280" y="274955"/>
            <a:ext cx="7970520" cy="1143000"/>
          </a:xfrm>
        </p:spPr>
        <p:txBody>
          <a:bodyPr/>
          <a:lstStyle/>
          <a:p>
            <a:pPr algn="l"/>
            <a:r>
              <a:rPr lang="en-US" altLang="zh-CN" sz="2800" smtClean="0">
                <a:solidFill>
                  <a:srgbClr val="000000"/>
                </a:solidFill>
                <a:latin typeface="宋体" panose="02010600030101010101" pitchFamily="2" charset="-122"/>
              </a:rPr>
              <a:t>  </a:t>
            </a:r>
            <a:r>
              <a:rPr lang="zh-CN" altLang="en-US" sz="2800" smtClean="0">
                <a:solidFill>
                  <a:srgbClr val="000000"/>
                </a:solidFill>
                <a:latin typeface="宋体" panose="02010600030101010101" pitchFamily="2" charset="-122"/>
              </a:rPr>
              <a:t>在数控机床控制系统中</a:t>
            </a:r>
            <a:r>
              <a:rPr lang="en-US" altLang="zh-CN" sz="2800" smtClean="0">
                <a:solidFill>
                  <a:srgbClr val="000000"/>
                </a:solidFill>
                <a:latin typeface="宋体" panose="02010600030101010101" pitchFamily="2" charset="-122"/>
              </a:rPr>
              <a:t>,</a:t>
            </a:r>
            <a:r>
              <a:rPr lang="zh-CN" altLang="en-US" sz="2800" smtClean="0">
                <a:solidFill>
                  <a:srgbClr val="000000"/>
                </a:solidFill>
                <a:latin typeface="宋体" panose="02010600030101010101" pitchFamily="2" charset="-122"/>
              </a:rPr>
              <a:t>目前国内用得较多的两种系统</a:t>
            </a:r>
            <a:r>
              <a:rPr lang="en-US" altLang="zh-CN" sz="2800" smtClean="0">
                <a:solidFill>
                  <a:srgbClr val="000000"/>
                </a:solidFill>
                <a:latin typeface="宋体" panose="02010600030101010101" pitchFamily="2" charset="-122"/>
              </a:rPr>
              <a:t>:</a:t>
            </a:r>
            <a:endParaRPr lang="zh-CN" altLang="en-US" sz="2800" smtClean="0"/>
          </a:p>
        </p:txBody>
      </p:sp>
      <p:pic>
        <p:nvPicPr>
          <p:cNvPr id="38915" name="内容占位符 3" descr="1.4.1(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762375" y="1628775"/>
            <a:ext cx="4948238" cy="4525963"/>
          </a:xfrm>
        </p:spPr>
      </p:pic>
      <p:sp>
        <p:nvSpPr>
          <p:cNvPr id="38916" name="矩形 5"/>
          <p:cNvSpPr>
            <a:spLocks noChangeArrowheads="1"/>
          </p:cNvSpPr>
          <p:nvPr/>
        </p:nvSpPr>
        <p:spPr bwMode="auto">
          <a:xfrm>
            <a:off x="250825" y="1449388"/>
            <a:ext cx="3511550" cy="508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000000"/>
                </a:solidFill>
                <a:latin typeface="宋体" panose="02010600030101010101" pitchFamily="2" charset="-122"/>
              </a:rPr>
              <a:t>①德</a:t>
            </a:r>
            <a:r>
              <a:rPr lang="en-US" altLang="zh-CN" dirty="0">
                <a:solidFill>
                  <a:srgbClr val="000000"/>
                </a:solidFill>
                <a:latin typeface="宋体" panose="02010600030101010101" pitchFamily="2" charset="-122"/>
              </a:rPr>
              <a:t>(</a:t>
            </a:r>
            <a:r>
              <a:rPr lang="en-US" altLang="zh-CN" dirty="0">
                <a:solidFill>
                  <a:srgbClr val="000000"/>
                </a:solidFill>
                <a:latin typeface="Times New Roman" panose="02020603050405020304" pitchFamily="18" charset="0"/>
              </a:rPr>
              <a:t>SINUMERIK 810D</a:t>
            </a:r>
            <a:r>
              <a:rPr lang="en-US" altLang="zh-CN" dirty="0">
                <a:solidFill>
                  <a:srgbClr val="000000"/>
                </a:solidFill>
                <a:latin typeface="宋体" panose="02010600030101010101" pitchFamily="2" charset="-122"/>
              </a:rPr>
              <a:t>)</a:t>
            </a:r>
          </a:p>
          <a:p>
            <a:pPr eaLnBrk="1" hangingPunct="1"/>
            <a:r>
              <a:rPr lang="zh-CN" altLang="en-US" dirty="0">
                <a:solidFill>
                  <a:srgbClr val="000000"/>
                </a:solidFill>
                <a:latin typeface="宋体" panose="02010600030101010101" pitchFamily="2" charset="-122"/>
              </a:rPr>
              <a:t>主轴</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交流高速变频调速电机</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恒值控制</a:t>
            </a:r>
            <a:r>
              <a:rPr lang="en-US" altLang="zh-CN" dirty="0">
                <a:solidFill>
                  <a:srgbClr val="000000"/>
                </a:solidFill>
                <a:latin typeface="宋体" panose="02010600030101010101" pitchFamily="2" charset="-122"/>
              </a:rPr>
              <a:t>)</a:t>
            </a:r>
            <a:endParaRPr lang="en-US" altLang="zh-CN" dirty="0"/>
          </a:p>
          <a:p>
            <a:pPr eaLnBrk="1" hangingPunct="1"/>
            <a:r>
              <a:rPr lang="zh-CN" altLang="en-US" dirty="0">
                <a:solidFill>
                  <a:srgbClr val="000000"/>
                </a:solidFill>
                <a:latin typeface="宋体" panose="02010600030101010101" pitchFamily="2" charset="-122"/>
              </a:rPr>
              <a:t>转速可达</a:t>
            </a:r>
            <a:r>
              <a:rPr lang="en-US" altLang="zh-CN" dirty="0">
                <a:solidFill>
                  <a:srgbClr val="000000"/>
                </a:solidFill>
                <a:latin typeface="Times New Roman" panose="02020603050405020304" pitchFamily="18" charset="0"/>
              </a:rPr>
              <a:t>15000r/min</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铣刀、齿轮</a:t>
            </a:r>
            <a:r>
              <a:rPr lang="en-US" altLang="zh-CN" dirty="0">
                <a:solidFill>
                  <a:srgbClr val="000000"/>
                </a:solidFill>
                <a:latin typeface="宋体" panose="02010600030101010101" pitchFamily="2" charset="-122"/>
              </a:rPr>
              <a:t>)</a:t>
            </a:r>
            <a:endParaRPr lang="en-US" altLang="zh-CN" dirty="0"/>
          </a:p>
          <a:p>
            <a:pPr eaLnBrk="1" hangingPunct="1"/>
            <a:r>
              <a:rPr lang="zh-CN" altLang="en-US" dirty="0">
                <a:solidFill>
                  <a:srgbClr val="000000"/>
                </a:solidFill>
                <a:latin typeface="宋体" panose="02010600030101010101" pitchFamily="2" charset="-122"/>
              </a:rPr>
              <a:t>刀架</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西门子数控系统随动系统</a:t>
            </a:r>
            <a:endParaRPr lang="en-US" altLang="zh-CN" dirty="0"/>
          </a:p>
          <a:p>
            <a:pPr eaLnBrk="1" hangingPunct="1"/>
            <a:r>
              <a:rPr lang="zh-CN" altLang="en-US" dirty="0">
                <a:solidFill>
                  <a:srgbClr val="000000"/>
                </a:solidFill>
                <a:latin typeface="宋体" panose="02010600030101010101" pitchFamily="2" charset="-122"/>
              </a:rPr>
              <a:t>交流伺服电动机</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变频</a:t>
            </a:r>
            <a:r>
              <a:rPr lang="en-US" altLang="zh-CN" dirty="0">
                <a:solidFill>
                  <a:srgbClr val="000000"/>
                </a:solidFill>
                <a:latin typeface="宋体" panose="02010600030101010101" pitchFamily="2" charset="-122"/>
              </a:rPr>
              <a:t>) </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11188" y="819150"/>
            <a:ext cx="8229600" cy="1143000"/>
          </a:xfrm>
        </p:spPr>
        <p:txBody>
          <a:bodyPr/>
          <a:lstStyle/>
          <a:p>
            <a:pPr algn="l"/>
            <a:r>
              <a:rPr lang="en-US" altLang="zh-CN" sz="2800" smtClean="0">
                <a:solidFill>
                  <a:srgbClr val="000000"/>
                </a:solidFill>
                <a:latin typeface="宋体" panose="02010600030101010101" pitchFamily="2" charset="-122"/>
              </a:rPr>
              <a:t/>
            </a:r>
            <a:br>
              <a:rPr lang="en-US" altLang="zh-CN" sz="2800" smtClean="0">
                <a:solidFill>
                  <a:srgbClr val="000000"/>
                </a:solidFill>
                <a:latin typeface="宋体" panose="02010600030101010101" pitchFamily="2" charset="-122"/>
              </a:rPr>
            </a:br>
            <a:r>
              <a:rPr lang="zh-CN" altLang="en-US" sz="2800" smtClean="0">
                <a:solidFill>
                  <a:srgbClr val="000000"/>
                </a:solidFill>
                <a:latin typeface="宋体" panose="02010600030101010101" pitchFamily="2" charset="-122"/>
              </a:rPr>
              <a:t>②日本</a:t>
            </a:r>
            <a:r>
              <a:rPr lang="en-US" altLang="zh-CN" sz="2800" smtClean="0">
                <a:solidFill>
                  <a:srgbClr val="000000"/>
                </a:solidFill>
                <a:latin typeface="Times New Roman" panose="02020603050405020304" pitchFamily="18" charset="0"/>
              </a:rPr>
              <a:t>FANUC</a:t>
            </a:r>
            <a:r>
              <a:rPr lang="zh-CN" altLang="en-US" sz="2800" smtClean="0">
                <a:solidFill>
                  <a:srgbClr val="000000"/>
                </a:solidFill>
                <a:latin typeface="宋体" panose="02010600030101010101" pitchFamily="2" charset="-122"/>
              </a:rPr>
              <a:t>数控系统。</a:t>
            </a:r>
            <a:r>
              <a:rPr lang="zh-CN" altLang="en-US" sz="2800" smtClean="0"/>
              <a:t/>
            </a:r>
            <a:br>
              <a:rPr lang="zh-CN" altLang="en-US" sz="2800" smtClean="0"/>
            </a:br>
            <a:r>
              <a:rPr lang="zh-CN" altLang="en-US" sz="2800" smtClean="0">
                <a:solidFill>
                  <a:srgbClr val="000000"/>
                </a:solidFill>
                <a:latin typeface="宋体" panose="02010600030101010101" pitchFamily="2" charset="-122"/>
              </a:rPr>
              <a:t>　　交流变频伺服系统</a:t>
            </a:r>
            <a:r>
              <a:rPr lang="en-US" altLang="zh-CN" sz="2800" smtClean="0">
                <a:solidFill>
                  <a:srgbClr val="000000"/>
                </a:solidFill>
                <a:latin typeface="宋体" panose="02010600030101010101" pitchFamily="2" charset="-122"/>
              </a:rPr>
              <a:t>(</a:t>
            </a:r>
            <a:r>
              <a:rPr lang="zh-CN" altLang="en-US" sz="2800" smtClean="0">
                <a:solidFill>
                  <a:srgbClr val="000000"/>
                </a:solidFill>
                <a:latin typeface="宋体" panose="02010600030101010101" pitchFamily="2" charset="-122"/>
              </a:rPr>
              <a:t>刀架精确定位</a:t>
            </a:r>
            <a:r>
              <a:rPr lang="en-US" altLang="zh-CN" sz="2800" smtClean="0">
                <a:solidFill>
                  <a:srgbClr val="000000"/>
                </a:solidFill>
                <a:latin typeface="宋体" panose="02010600030101010101" pitchFamily="2" charset="-122"/>
              </a:rPr>
              <a:t>)</a:t>
            </a:r>
            <a:r>
              <a:rPr lang="zh-CN" altLang="en-US" sz="2800" smtClean="0"/>
              <a:t/>
            </a:r>
            <a:br>
              <a:rPr lang="zh-CN" altLang="en-US" sz="2800" smtClean="0"/>
            </a:br>
            <a:endParaRPr lang="zh-CN" altLang="en-US" sz="2800" smtClean="0"/>
          </a:p>
        </p:txBody>
      </p:sp>
      <p:pic>
        <p:nvPicPr>
          <p:cNvPr id="39939" name="内容占位符 3" descr="1.4.1（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20700" y="2168525"/>
            <a:ext cx="8010525" cy="3151188"/>
          </a:xfr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内容占位符 2"/>
          <p:cNvSpPr>
            <a:spLocks noGrp="1"/>
          </p:cNvSpPr>
          <p:nvPr>
            <p:ph idx="1"/>
          </p:nvPr>
        </p:nvSpPr>
        <p:spPr/>
        <p:txBody>
          <a:bodyPr/>
          <a:lstStyle/>
          <a:p>
            <a:pPr marL="0" latinLnBrk="0">
              <a:lnSpc>
                <a:spcPct val="120000"/>
              </a:lnSpc>
              <a:spcBef>
                <a:spcPts val="0"/>
              </a:spcBef>
              <a:buFontTx/>
              <a:buNone/>
            </a:pPr>
            <a:r>
              <a:rPr lang="en-US" altLang="zh-CN" sz="2800" b="1" dirty="0" smtClean="0">
                <a:solidFill>
                  <a:srgbClr val="000000"/>
                </a:solidFill>
                <a:latin typeface="宋体" panose="02010600030101010101" pitchFamily="2" charset="-122"/>
              </a:rPr>
              <a:t>  3.</a:t>
            </a:r>
            <a:r>
              <a:rPr lang="zh-CN" altLang="en-US" sz="2800" b="1" dirty="0" smtClean="0">
                <a:solidFill>
                  <a:srgbClr val="000000"/>
                </a:solidFill>
                <a:latin typeface="宋体" panose="02010600030101010101" pitchFamily="2" charset="-122"/>
              </a:rPr>
              <a:t>过程控制系统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Process Control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生产过程通常是指把原料放在一定的外界条件下，经过物理或化学变化而制成产品的过程。在这些过程中，往往要求自动提供一定的外界条件，例如温度、压力、流量、液位、粘度、浓度等参量在一定的时间内保持恒值或按一定的程序变化。</a:t>
            </a:r>
            <a:r>
              <a:rPr lang="zh-CN" altLang="en-US" sz="2800" dirty="0" smtClean="0"/>
              <a:t/>
            </a:r>
            <a:br>
              <a:rPr lang="zh-CN" altLang="en-US" sz="2800" dirty="0" smtClean="0"/>
            </a:br>
            <a:r>
              <a:rPr lang="zh-CN" altLang="en-US" sz="2800" dirty="0" smtClean="0">
                <a:solidFill>
                  <a:srgbClr val="000000"/>
                </a:solidFill>
                <a:latin typeface="宋体" panose="02010600030101010101" pitchFamily="2" charset="-122"/>
              </a:rPr>
              <a:t>　　在化工、轻工、食品等生产过程中对温度、流量、压力、湿度等的控制</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过程控制系统。</a:t>
            </a:r>
            <a:endParaRPr lang="zh-CN" altLang="en-US" sz="28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内容占位符 6" descr="1.4.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816350" y="273050"/>
            <a:ext cx="4629150" cy="5853113"/>
          </a:xfrm>
        </p:spPr>
      </p:pic>
      <p:sp>
        <p:nvSpPr>
          <p:cNvPr id="41988" name="文本占位符 5"/>
          <p:cNvSpPr>
            <a:spLocks noGrp="1"/>
          </p:cNvSpPr>
          <p:nvPr>
            <p:ph type="body" sz="half" idx="2"/>
          </p:nvPr>
        </p:nvSpPr>
        <p:spPr/>
        <p:txBody>
          <a:bodyPr/>
          <a:lstStyle/>
          <a:p>
            <a:pPr>
              <a:lnSpc>
                <a:spcPct val="120000"/>
              </a:lnSpc>
            </a:pPr>
            <a:r>
              <a:rPr lang="zh-CN" altLang="en-US" sz="2800" dirty="0" smtClean="0">
                <a:solidFill>
                  <a:srgbClr val="000000"/>
                </a:solidFill>
                <a:latin typeface="宋体" panose="02010600030101010101" pitchFamily="2" charset="-122"/>
              </a:rPr>
              <a:t>右图为食品加工的在线调和</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流量控制</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如生产调和油。</a:t>
            </a:r>
            <a:endParaRPr lang="zh-CN" altLang="en-US" sz="2800" dirty="0" smtClean="0"/>
          </a:p>
          <a:p>
            <a:endParaRPr lang="zh-CN" alt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内容占位符 6" descr="1.4.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781425" y="273050"/>
            <a:ext cx="4699000" cy="5853113"/>
          </a:xfrm>
        </p:spPr>
      </p:pic>
      <p:sp>
        <p:nvSpPr>
          <p:cNvPr id="43012" name="文本占位符 5"/>
          <p:cNvSpPr>
            <a:spLocks noGrp="1"/>
          </p:cNvSpPr>
          <p:nvPr>
            <p:ph type="body" sz="half" idx="2"/>
          </p:nvPr>
        </p:nvSpPr>
        <p:spPr/>
        <p:txBody>
          <a:bodyPr/>
          <a:lstStyle/>
          <a:p>
            <a:pPr>
              <a:lnSpc>
                <a:spcPct val="120000"/>
              </a:lnSpc>
            </a:pPr>
            <a:r>
              <a:rPr lang="zh-CN" altLang="en-US" sz="2800" dirty="0" smtClean="0">
                <a:solidFill>
                  <a:srgbClr val="000000"/>
                </a:solidFill>
                <a:latin typeface="宋体" panose="02010600030101010101" pitchFamily="2" charset="-122"/>
              </a:rPr>
              <a:t>又如：右图为化工厂中的温度、压力、流量的控制。</a:t>
            </a:r>
            <a:endParaRPr lang="zh-CN" altLang="en-US" sz="2800" dirty="0" smtClean="0"/>
          </a:p>
          <a:p>
            <a:endParaRPr lang="zh-CN" altLang="en-US"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内容占位符 6" descr="1.4.1(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575050" y="811213"/>
            <a:ext cx="5111750" cy="4776787"/>
          </a:xfrm>
        </p:spPr>
      </p:pic>
      <p:sp>
        <p:nvSpPr>
          <p:cNvPr id="44036" name="文本占位符 5"/>
          <p:cNvSpPr>
            <a:spLocks noGrp="1"/>
          </p:cNvSpPr>
          <p:nvPr>
            <p:ph type="body" sz="half" idx="2"/>
          </p:nvPr>
        </p:nvSpPr>
        <p:spPr/>
        <p:txBody>
          <a:bodyPr/>
          <a:lstStyle/>
          <a:p>
            <a:pPr>
              <a:lnSpc>
                <a:spcPct val="120000"/>
              </a:lnSpc>
            </a:pPr>
            <a:r>
              <a:rPr lang="zh-CN" altLang="en-US" sz="2800" dirty="0" smtClean="0">
                <a:solidFill>
                  <a:srgbClr val="000000"/>
                </a:solidFill>
                <a:latin typeface="宋体" panose="02010600030101010101" pitchFamily="2" charset="-122"/>
              </a:rPr>
              <a:t>右图为发电厂的生产控制</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木屑生物能源发电原理。</a:t>
            </a:r>
            <a:endParaRPr lang="zh-CN" altLang="en-US" sz="2800" dirty="0" smtClean="0"/>
          </a:p>
          <a:p>
            <a:endParaRPr lang="zh-CN" altLang="en-US"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325880" y="274955"/>
            <a:ext cx="7360920" cy="1143000"/>
          </a:xfrm>
        </p:spPr>
        <p:txBody>
          <a:bodyPr/>
          <a:lstStyle/>
          <a:p>
            <a:pPr algn="l">
              <a:defRPr/>
            </a:pPr>
            <a:r>
              <a:rPr lang="zh-CN" altLang="en-US" sz="2800" dirty="0" smtClean="0">
                <a:solidFill>
                  <a:schemeClr val="tx1"/>
                </a:solidFill>
                <a:latin typeface="+mj-ea"/>
                <a:cs typeface="+mn-ea"/>
                <a:sym typeface="+mn-lt"/>
              </a:rPr>
              <a:t>二、按系统传输信号对时间的关系分类</a:t>
            </a:r>
            <a:endParaRPr lang="zh-CN" altLang="en-US" sz="2800" dirty="0">
              <a:solidFill>
                <a:schemeClr val="tx1"/>
              </a:solidFill>
              <a:latin typeface="+mj-ea"/>
            </a:endParaRPr>
          </a:p>
        </p:txBody>
      </p:sp>
      <p:sp>
        <p:nvSpPr>
          <p:cNvPr id="6" name="内容占位符 5"/>
          <p:cNvSpPr>
            <a:spLocks noGrp="1"/>
          </p:cNvSpPr>
          <p:nvPr>
            <p:ph idx="1"/>
          </p:nvPr>
        </p:nvSpPr>
        <p:spPr/>
        <p:txBody>
          <a:bodyPr/>
          <a:lstStyle/>
          <a:p>
            <a:pPr marL="0">
              <a:lnSpc>
                <a:spcPct val="120000"/>
              </a:lnSpc>
              <a:buFontTx/>
              <a:buNone/>
              <a:defRPr/>
            </a:pPr>
            <a:r>
              <a:rPr lang="en-US" altLang="zh-CN" sz="2800" b="1" dirty="0" smtClean="0">
                <a:solidFill>
                  <a:srgbClr val="000000"/>
                </a:solidFill>
                <a:latin typeface="宋体" panose="02010600030101010101" pitchFamily="2" charset="-122"/>
              </a:rPr>
              <a:t>1.</a:t>
            </a:r>
            <a:r>
              <a:rPr lang="zh-CN" altLang="en-US" sz="2800" b="1" dirty="0" smtClean="0">
                <a:solidFill>
                  <a:srgbClr val="000000"/>
                </a:solidFill>
                <a:latin typeface="宋体" panose="02010600030101010101" pitchFamily="2" charset="-122"/>
              </a:rPr>
              <a:t>连续控制系统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Continuous Control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连续控制系统的特点是各元件的输入量与输出量都是连续量或模拟量。［所以它又称为模拟控制系统</a:t>
            </a:r>
            <a:r>
              <a:rPr lang="en-US" altLang="zh-CN" sz="2800" dirty="0" smtClean="0">
                <a:solidFill>
                  <a:srgbClr val="000000"/>
                </a:solidFill>
                <a:latin typeface="宋体" panose="02010600030101010101" pitchFamily="2" charset="-122"/>
              </a:rPr>
              <a:t>(</a:t>
            </a:r>
            <a:r>
              <a:rPr lang="en-US" altLang="zh-CN" sz="2800" dirty="0" smtClean="0">
                <a:solidFill>
                  <a:srgbClr val="000000"/>
                </a:solidFill>
                <a:latin typeface="Times New Roman" panose="02020603050405020304" pitchFamily="18" charset="0"/>
              </a:rPr>
              <a:t>Analogue Control System</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连续系统的运动规律通常可用微分方程来描述。</a:t>
            </a:r>
            <a:endParaRPr lang="en-US" altLang="zh-CN" sz="2800" dirty="0" smtClean="0"/>
          </a:p>
          <a:p>
            <a:pPr marL="0">
              <a:lnSpc>
                <a:spcPct val="120000"/>
              </a:lnSpc>
              <a:buFontTx/>
              <a:buNone/>
              <a:defRPr/>
            </a:pPr>
            <a:r>
              <a:rPr lang="en-US" altLang="zh-CN" sz="2800" b="1" dirty="0" smtClean="0">
                <a:solidFill>
                  <a:srgbClr val="000000"/>
                </a:solidFill>
                <a:latin typeface="宋体" panose="02010600030101010101" pitchFamily="2" charset="-122"/>
              </a:rPr>
              <a:t>2.</a:t>
            </a:r>
            <a:r>
              <a:rPr lang="zh-CN" altLang="en-US" sz="2800" b="1" dirty="0" smtClean="0">
                <a:solidFill>
                  <a:srgbClr val="000000"/>
                </a:solidFill>
                <a:latin typeface="宋体" panose="02010600030101010101" pitchFamily="2" charset="-122"/>
              </a:rPr>
              <a:t>离散控制系统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Discrete Control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离散系统又称采样数据系统</a:t>
            </a:r>
            <a:r>
              <a:rPr lang="en-US" altLang="zh-CN" sz="2800" dirty="0" smtClean="0">
                <a:solidFill>
                  <a:srgbClr val="000000"/>
                </a:solidFill>
                <a:latin typeface="宋体" panose="02010600030101010101" pitchFamily="2" charset="-122"/>
              </a:rPr>
              <a:t>(</a:t>
            </a:r>
            <a:r>
              <a:rPr lang="en-US" altLang="zh-CN" sz="2800" dirty="0" smtClean="0">
                <a:solidFill>
                  <a:srgbClr val="000000"/>
                </a:solidFill>
                <a:latin typeface="Times New Roman" panose="02020603050405020304" pitchFamily="18" charset="0"/>
              </a:rPr>
              <a:t>Sample-Data Control System</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。它的特点是系统中有的信号是脉冲序列或采样数据量或数字量。</a:t>
            </a:r>
            <a:endParaRPr lang="zh-CN" altLang="en-US" sz="2800" dirty="0" smtClean="0"/>
          </a:p>
          <a:p>
            <a:pPr>
              <a:defRPr/>
            </a:pP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79500" y="278130"/>
            <a:ext cx="8416925" cy="1143000"/>
          </a:xfrm>
        </p:spPr>
        <p:txBody>
          <a:bodyPr/>
          <a:lstStyle/>
          <a:p>
            <a:pPr algn="l">
              <a:defRPr/>
            </a:pPr>
            <a:r>
              <a:rPr lang="zh-CN" altLang="en-US" sz="2800" dirty="0" smtClean="0">
                <a:solidFill>
                  <a:schemeClr val="tx1"/>
                </a:solidFill>
                <a:latin typeface="+mj-ea"/>
                <a:cs typeface="+mn-ea"/>
                <a:sym typeface="+mn-lt"/>
              </a:rPr>
              <a:t>三、按系统的输出量和输入量间的关系分类</a:t>
            </a:r>
            <a:endParaRPr lang="zh-CN" altLang="en-US" sz="3600" dirty="0">
              <a:solidFill>
                <a:schemeClr val="tx1"/>
              </a:solidFill>
              <a:latin typeface="+mj-ea"/>
            </a:endParaRPr>
          </a:p>
        </p:txBody>
      </p:sp>
      <p:sp>
        <p:nvSpPr>
          <p:cNvPr id="6" name="内容占位符 5"/>
          <p:cNvSpPr>
            <a:spLocks noGrp="1"/>
          </p:cNvSpPr>
          <p:nvPr>
            <p:ph idx="1"/>
          </p:nvPr>
        </p:nvSpPr>
        <p:spPr>
          <a:xfrm>
            <a:off x="457200" y="1868805"/>
            <a:ext cx="8229600" cy="4525963"/>
          </a:xfrm>
        </p:spPr>
        <p:txBody>
          <a:bodyPr/>
          <a:lstStyle/>
          <a:p>
            <a:pPr marL="0" latinLnBrk="0">
              <a:lnSpc>
                <a:spcPct val="130000"/>
              </a:lnSpc>
              <a:spcBef>
                <a:spcPts val="0"/>
              </a:spcBef>
              <a:buFontTx/>
              <a:buNone/>
              <a:defRPr/>
            </a:pPr>
            <a:r>
              <a:rPr lang="en-US" altLang="zh-CN" sz="2800" b="1" dirty="0" smtClean="0">
                <a:solidFill>
                  <a:srgbClr val="000000"/>
                </a:solidFill>
                <a:latin typeface="+mn-ea"/>
              </a:rPr>
              <a:t>1.</a:t>
            </a:r>
            <a:r>
              <a:rPr lang="zh-CN" altLang="en-US" sz="2800" b="1" dirty="0" smtClean="0">
                <a:solidFill>
                  <a:srgbClr val="000000"/>
                </a:solidFill>
                <a:latin typeface="+mn-ea"/>
              </a:rPr>
              <a:t>线性系统 </a:t>
            </a:r>
            <a:r>
              <a:rPr lang="en-US" altLang="zh-CN" sz="2800" b="1" dirty="0" smtClean="0">
                <a:solidFill>
                  <a:srgbClr val="000000"/>
                </a:solidFill>
                <a:latin typeface="+mn-ea"/>
              </a:rPr>
              <a:t>(</a:t>
            </a:r>
            <a:r>
              <a:rPr lang="en-US" altLang="zh-CN" sz="2800" b="1" dirty="0" smtClean="0">
                <a:solidFill>
                  <a:srgbClr val="000000"/>
                </a:solidFill>
                <a:latin typeface="Times New Roman" panose="02020603050405020304" pitchFamily="18" charset="0"/>
              </a:rPr>
              <a:t>Liner System</a:t>
            </a:r>
            <a:r>
              <a:rPr lang="en-US" altLang="zh-CN" sz="2800" b="1" dirty="0" smtClean="0">
                <a:solidFill>
                  <a:srgbClr val="000000"/>
                </a:solidFill>
                <a:latin typeface="+mn-ea"/>
              </a:rPr>
              <a:t>)</a:t>
            </a:r>
            <a:r>
              <a:rPr lang="en-US" altLang="zh-CN" sz="2800" dirty="0" smtClean="0">
                <a:latin typeface="+mn-ea"/>
              </a:rPr>
              <a:t/>
            </a:r>
            <a:br>
              <a:rPr lang="en-US" altLang="zh-CN" sz="2800" dirty="0" smtClean="0">
                <a:latin typeface="+mn-ea"/>
              </a:rPr>
            </a:br>
            <a:r>
              <a:rPr lang="zh-CN" altLang="en-US" sz="2800" dirty="0" smtClean="0">
                <a:solidFill>
                  <a:srgbClr val="000000"/>
                </a:solidFill>
                <a:latin typeface="+mn-ea"/>
              </a:rPr>
              <a:t>　　线性系统的特点是系统全部由线性元件组成，它的输出量与输入量间的关系用线性微分方程来描述。线性系统的最重要的特性，是可以应用叠加原理。叠加原理说明，两个不同的作用量，同时作用于系统时的响应，等于两个作用量单独作用的响应的叠加。</a:t>
            </a:r>
            <a:endParaRPr lang="en-US" altLang="zh-CN" sz="2800" dirty="0" smtClean="0">
              <a:latin typeface="+mn-ea"/>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latinLnBrk="0">
              <a:lnSpc>
                <a:spcPct val="130000"/>
              </a:lnSpc>
              <a:spcBef>
                <a:spcPts val="0"/>
              </a:spcBef>
              <a:buFontTx/>
              <a:buNone/>
              <a:defRPr/>
            </a:pPr>
            <a:r>
              <a:rPr lang="en-US" altLang="zh-CN" sz="2800" b="1" dirty="0" smtClean="0">
                <a:solidFill>
                  <a:srgbClr val="000000"/>
                </a:solidFill>
                <a:latin typeface="宋体" panose="02010600030101010101" pitchFamily="2" charset="-122"/>
              </a:rPr>
              <a:t>  2.</a:t>
            </a:r>
            <a:r>
              <a:rPr lang="zh-CN" altLang="en-US" sz="2800" b="1" dirty="0" smtClean="0">
                <a:solidFill>
                  <a:srgbClr val="000000"/>
                </a:solidFill>
                <a:latin typeface="宋体" panose="02010600030101010101" pitchFamily="2" charset="-122"/>
              </a:rPr>
              <a:t>非线性系统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Nonlinear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非线性系统的特点是系统中存在有非线性元件</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如具有死区、出现饱和、含有库伦摩擦等非线性特性的元件</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，要用非线性微分方程来描述。非线性系统不能应用叠加原理。</a:t>
            </a:r>
            <a:r>
              <a:rPr lang="zh-CN" altLang="en-US" dirty="0" smtClean="0">
                <a:solidFill>
                  <a:srgbClr val="000000"/>
                </a:solidFill>
                <a:latin typeface="宋体" panose="02010600030101010101" pitchFamily="2" charset="-122"/>
              </a:rPr>
              <a:t></a:t>
            </a:r>
            <a:endParaRPr lang="zh-CN" altLang="en-US" dirty="0" smtClean="0"/>
          </a:p>
          <a:p>
            <a:pPr>
              <a:defRPr/>
            </a:pPr>
            <a:endParaRPr lang="zh-CN" altLang="en-US" dirty="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87755" y="368300"/>
            <a:ext cx="8056245" cy="1143000"/>
          </a:xfrm>
        </p:spPr>
        <p:txBody>
          <a:bodyPr/>
          <a:lstStyle/>
          <a:p>
            <a:pPr algn="l">
              <a:defRPr/>
            </a:pPr>
            <a:r>
              <a:rPr lang="zh-CN" altLang="en-US" sz="2800" dirty="0" smtClean="0">
                <a:solidFill>
                  <a:schemeClr val="tx1"/>
                </a:solidFill>
                <a:latin typeface="+mj-ea"/>
                <a:cs typeface="+mn-ea"/>
                <a:sym typeface="+mn-lt"/>
              </a:rPr>
              <a:t>四、按系统中的参数对时间的变化情况分类</a:t>
            </a:r>
            <a:endParaRPr lang="zh-CN" altLang="en-US" sz="3600" dirty="0">
              <a:solidFill>
                <a:schemeClr val="tx1"/>
              </a:solidFill>
              <a:latin typeface="+mj-ea"/>
            </a:endParaRPr>
          </a:p>
        </p:txBody>
      </p:sp>
      <p:sp>
        <p:nvSpPr>
          <p:cNvPr id="6" name="内容占位符 5"/>
          <p:cNvSpPr>
            <a:spLocks noGrp="1"/>
          </p:cNvSpPr>
          <p:nvPr>
            <p:ph idx="1"/>
          </p:nvPr>
        </p:nvSpPr>
        <p:spPr/>
        <p:txBody>
          <a:bodyPr/>
          <a:lstStyle/>
          <a:p>
            <a:pPr marL="0" latinLnBrk="0">
              <a:lnSpc>
                <a:spcPct val="120000"/>
              </a:lnSpc>
              <a:spcBef>
                <a:spcPts val="0"/>
              </a:spcBef>
              <a:buFontTx/>
              <a:buNone/>
              <a:defRPr/>
            </a:pPr>
            <a:r>
              <a:rPr lang="en-US" altLang="zh-CN" sz="2800" b="1" dirty="0" smtClean="0">
                <a:solidFill>
                  <a:srgbClr val="000000"/>
                </a:solidFill>
                <a:latin typeface="宋体" panose="02010600030101010101" pitchFamily="2" charset="-122"/>
              </a:rPr>
              <a:t>  1.</a:t>
            </a:r>
            <a:r>
              <a:rPr lang="zh-CN" altLang="en-US" sz="2800" b="1" dirty="0" smtClean="0">
                <a:solidFill>
                  <a:srgbClr val="000000"/>
                </a:solidFill>
                <a:latin typeface="宋体" panose="02010600030101010101" pitchFamily="2" charset="-122"/>
              </a:rPr>
              <a:t>定常系统 </a:t>
            </a:r>
            <a:r>
              <a:rPr lang="en-US" altLang="zh-CN" sz="2800" b="1" dirty="0" smtClean="0">
                <a:solidFill>
                  <a:srgbClr val="000000"/>
                </a:solidFill>
                <a:latin typeface="宋体" panose="02010600030101010101" pitchFamily="2" charset="-122"/>
              </a:rPr>
              <a:t>(</a:t>
            </a:r>
            <a:r>
              <a:rPr lang="zh-CN" altLang="en-US" sz="2800" b="1" dirty="0" smtClean="0">
                <a:solidFill>
                  <a:srgbClr val="000000"/>
                </a:solidFill>
                <a:latin typeface="宋体" panose="02010600030101010101" pitchFamily="2" charset="-122"/>
              </a:rPr>
              <a:t>又称时不变系统</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Time Invariant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定常系统的特点是系统的全部参数不随时间变化，它用定常微分方程来描述。 </a:t>
            </a:r>
            <a:endParaRPr lang="en-US" altLang="zh-CN" sz="2800" dirty="0" smtClean="0"/>
          </a:p>
          <a:p>
            <a:pPr marL="0" latinLnBrk="0">
              <a:lnSpc>
                <a:spcPct val="120000"/>
              </a:lnSpc>
              <a:spcBef>
                <a:spcPts val="0"/>
              </a:spcBef>
              <a:buFontTx/>
              <a:buNone/>
              <a:defRPr/>
            </a:pPr>
            <a:r>
              <a:rPr lang="en-US" altLang="zh-CN" sz="2800" b="1" dirty="0" smtClean="0">
                <a:solidFill>
                  <a:srgbClr val="000000"/>
                </a:solidFill>
                <a:latin typeface="宋体" panose="02010600030101010101" pitchFamily="2" charset="-122"/>
              </a:rPr>
              <a:t>  2.</a:t>
            </a:r>
            <a:r>
              <a:rPr lang="zh-CN" altLang="en-US" sz="2800" b="1" dirty="0" smtClean="0">
                <a:solidFill>
                  <a:srgbClr val="000000"/>
                </a:solidFill>
                <a:latin typeface="宋体" panose="02010600030101010101" pitchFamily="2" charset="-122"/>
              </a:rPr>
              <a:t>时变系统 </a:t>
            </a:r>
            <a:r>
              <a:rPr lang="en-US" altLang="zh-CN" sz="2800" b="1" dirty="0" smtClean="0">
                <a:solidFill>
                  <a:srgbClr val="000000"/>
                </a:solidFill>
                <a:latin typeface="宋体" panose="02010600030101010101" pitchFamily="2" charset="-122"/>
              </a:rPr>
              <a:t>(</a:t>
            </a:r>
            <a:r>
              <a:rPr lang="en-US" altLang="zh-CN" sz="2800" b="1" dirty="0" smtClean="0">
                <a:solidFill>
                  <a:srgbClr val="000000"/>
                </a:solidFill>
                <a:latin typeface="Times New Roman" panose="02020603050405020304" pitchFamily="18" charset="0"/>
              </a:rPr>
              <a:t>Time Varying System</a:t>
            </a:r>
            <a:r>
              <a:rPr lang="en-US" altLang="zh-CN" sz="2800" b="1" dirty="0" smtClean="0">
                <a:solidFill>
                  <a:srgbClr val="000000"/>
                </a:solidFill>
                <a:latin typeface="宋体" panose="02010600030101010101" pitchFamily="2" charset="-122"/>
              </a:rPr>
              <a:t>)</a:t>
            </a:r>
            <a:r>
              <a:rPr lang="en-US" altLang="zh-CN" sz="2800" dirty="0" smtClean="0"/>
              <a:t/>
            </a:r>
            <a:br>
              <a:rPr lang="en-US" altLang="zh-CN" sz="2800" dirty="0" smtClean="0"/>
            </a:br>
            <a:r>
              <a:rPr lang="zh-CN" altLang="en-US" sz="2800" dirty="0" smtClean="0">
                <a:solidFill>
                  <a:srgbClr val="000000"/>
                </a:solidFill>
                <a:latin typeface="宋体" panose="02010600030101010101" pitchFamily="2" charset="-122"/>
              </a:rPr>
              <a:t>　　时变系统的特点是系统中有的参数是时间</a:t>
            </a:r>
            <a:r>
              <a:rPr lang="en-US" altLang="zh-CN" sz="2800" dirty="0" smtClean="0">
                <a:solidFill>
                  <a:srgbClr val="000000"/>
                </a:solidFill>
                <a:latin typeface="Times New Roman" panose="02020603050405020304" pitchFamily="18" charset="0"/>
              </a:rPr>
              <a:t>t</a:t>
            </a:r>
            <a:r>
              <a:rPr lang="zh-CN" altLang="en-US" sz="2800" dirty="0" smtClean="0">
                <a:solidFill>
                  <a:srgbClr val="000000"/>
                </a:solidFill>
                <a:latin typeface="宋体" panose="02010600030101010101" pitchFamily="2" charset="-122"/>
              </a:rPr>
              <a:t>的函数，它随时间变化而改变。例如宇宙飞船控制系统就是时变系统。</a:t>
            </a:r>
            <a:endParaRPr lang="zh-CN" altLang="en-US" sz="2800" dirty="0" smtClean="0"/>
          </a:p>
          <a:p>
            <a:pPr>
              <a:defRPr/>
            </a:pP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4"/>
          <p:cNvSpPr>
            <a:spLocks noGrp="1"/>
          </p:cNvSpPr>
          <p:nvPr>
            <p:ph type="title"/>
          </p:nvPr>
        </p:nvSpPr>
        <p:spPr/>
        <p:txBody>
          <a:bodyPr/>
          <a:lstStyle/>
          <a:p>
            <a:r>
              <a:rPr lang="zh-CN" altLang="en-US" sz="3600" smtClean="0"/>
              <a:t>第五节  自动控制系统的指标</a:t>
            </a:r>
          </a:p>
        </p:txBody>
      </p:sp>
      <p:sp>
        <p:nvSpPr>
          <p:cNvPr id="49155" name="内容占位符 5"/>
          <p:cNvSpPr>
            <a:spLocks noGrp="1"/>
          </p:cNvSpPr>
          <p:nvPr>
            <p:ph idx="1"/>
          </p:nvPr>
        </p:nvSpPr>
        <p:spPr>
          <a:xfrm>
            <a:off x="431800" y="1628775"/>
            <a:ext cx="8229600" cy="4525963"/>
          </a:xfrm>
        </p:spPr>
        <p:txBody>
          <a:bodyPr/>
          <a:lstStyle/>
          <a:p>
            <a:pPr marL="0" latinLnBrk="0">
              <a:lnSpc>
                <a:spcPct val="120000"/>
              </a:lnSpc>
              <a:spcBef>
                <a:spcPts val="0"/>
              </a:spcBef>
              <a:buFontTx/>
              <a:buNone/>
            </a:pPr>
            <a:r>
              <a:rPr lang="zh-CN" altLang="en-US" sz="2800" dirty="0" smtClean="0"/>
              <a:t>一、系统的稳定性</a:t>
            </a:r>
            <a:r>
              <a:rPr lang="en-US" altLang="zh-CN" sz="2800" dirty="0" smtClean="0"/>
              <a:t>(</a:t>
            </a:r>
            <a:r>
              <a:rPr lang="en-US" altLang="zh-CN" sz="2800" dirty="0" smtClean="0">
                <a:latin typeface="Times New Roman" panose="02020603050405020304" pitchFamily="18" charset="0"/>
                <a:cs typeface="Times New Roman" panose="02020603050405020304" pitchFamily="18" charset="0"/>
              </a:rPr>
              <a:t>S</a:t>
            </a:r>
            <a:r>
              <a:rPr lang="en-US" altLang="zh-CN" sz="2800" dirty="0" smtClean="0">
                <a:latin typeface="Times New Roman" panose="02020603050405020304" pitchFamily="18" charset="0"/>
              </a:rPr>
              <a:t>tability</a:t>
            </a:r>
            <a:r>
              <a:rPr lang="en-US" altLang="zh-CN" sz="2800" dirty="0" smtClean="0"/>
              <a:t>)</a:t>
            </a:r>
          </a:p>
          <a:p>
            <a:pPr marL="0" latinLnBrk="0">
              <a:lnSpc>
                <a:spcPct val="120000"/>
              </a:lnSpc>
              <a:spcBef>
                <a:spcPts val="0"/>
              </a:spcBef>
              <a:buFontTx/>
              <a:buNone/>
            </a:pPr>
            <a:r>
              <a:rPr lang="en-US" altLang="zh-CN" sz="2800" dirty="0" smtClean="0">
                <a:solidFill>
                  <a:srgbClr val="000000"/>
                </a:solidFill>
                <a:latin typeface="宋体" panose="02010600030101010101" pitchFamily="2" charset="-122"/>
              </a:rPr>
              <a:t>    1.</a:t>
            </a:r>
            <a:r>
              <a:rPr lang="zh-CN" altLang="en-US" sz="2800" dirty="0" smtClean="0">
                <a:solidFill>
                  <a:srgbClr val="000000"/>
                </a:solidFill>
                <a:latin typeface="宋体" panose="02010600030101010101" pitchFamily="2" charset="-122"/>
              </a:rPr>
              <a:t>稳定系统</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当扰动作用</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或给定值发生变化</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时，输出量将会偏离原来的稳定值，这时，由于反馈环节的作用，通过系统内部的自动调节，系统可能回到</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或接近</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原来的稳定</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或跟随给定值</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稳定下来，如图</a:t>
            </a:r>
            <a:r>
              <a:rPr lang="en-US" altLang="zh-CN" sz="2800" dirty="0" smtClean="0">
                <a:solidFill>
                  <a:srgbClr val="000000"/>
                </a:solidFill>
                <a:latin typeface="宋体" panose="02010600030101010101" pitchFamily="2" charset="-122"/>
              </a:rPr>
              <a:t>1-13a</a:t>
            </a:r>
            <a:r>
              <a:rPr lang="zh-CN" altLang="en-US" sz="2800" dirty="0" smtClean="0">
                <a:solidFill>
                  <a:srgbClr val="000000"/>
                </a:solidFill>
                <a:latin typeface="宋体" panose="02010600030101010101" pitchFamily="2" charset="-122"/>
              </a:rPr>
              <a:t>所示。</a:t>
            </a:r>
            <a:endParaRPr lang="en-US" altLang="zh-CN" sz="2800" dirty="0" smtClean="0"/>
          </a:p>
          <a:p>
            <a:pPr marL="0" latinLnBrk="0">
              <a:lnSpc>
                <a:spcPct val="120000"/>
              </a:lnSpc>
              <a:spcBef>
                <a:spcPts val="0"/>
              </a:spcBef>
              <a:buFontTx/>
              <a:buNone/>
            </a:pPr>
            <a:r>
              <a:rPr lang="zh-CN" altLang="en-US" sz="2800" dirty="0" smtClean="0">
                <a:solidFill>
                  <a:srgbClr val="000000"/>
                </a:solidFill>
                <a:latin typeface="宋体" panose="02010600030101010101" pitchFamily="2" charset="-122"/>
              </a:rPr>
              <a:t>    ２</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不稳定系统</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由于内部的相互作用，使系统出现发散而处于不稳定状态，如图</a:t>
            </a:r>
            <a:r>
              <a:rPr lang="en-US" altLang="zh-CN" sz="2800" dirty="0" smtClean="0">
                <a:solidFill>
                  <a:srgbClr val="000000"/>
                </a:solidFill>
                <a:latin typeface="宋体" panose="02010600030101010101" pitchFamily="2" charset="-122"/>
              </a:rPr>
              <a:t>1-13b</a:t>
            </a:r>
            <a:r>
              <a:rPr lang="zh-CN" altLang="en-US" sz="2800" dirty="0" smtClean="0">
                <a:solidFill>
                  <a:srgbClr val="000000"/>
                </a:solidFill>
                <a:latin typeface="宋体" panose="02010600030101010101" pitchFamily="2" charset="-122"/>
              </a:rPr>
              <a:t>所示。</a:t>
            </a:r>
            <a:endParaRPr lang="zh-CN" altLang="en-US" sz="2800"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4"/>
          <p:cNvSpPr>
            <a:spLocks noGrp="1"/>
          </p:cNvSpPr>
          <p:nvPr>
            <p:ph type="title"/>
          </p:nvPr>
        </p:nvSpPr>
        <p:spPr>
          <a:xfrm>
            <a:off x="520700" y="819150"/>
            <a:ext cx="8229600" cy="1619718"/>
          </a:xfrm>
        </p:spPr>
        <p:txBody>
          <a:bodyPr/>
          <a:lstStyle/>
          <a:p>
            <a:pPr algn="l">
              <a:lnSpc>
                <a:spcPct val="120000"/>
              </a:lnSpc>
            </a:pPr>
            <a:r>
              <a:rPr lang="en-US" altLang="zh-CN" sz="2800" dirty="0" smtClean="0">
                <a:solidFill>
                  <a:srgbClr val="000000"/>
                </a:solidFill>
                <a:latin typeface="宋体" panose="02010600030101010101" pitchFamily="2" charset="-122"/>
              </a:rPr>
              <a:t>    </a:t>
            </a:r>
            <a:r>
              <a:rPr lang="zh-CN" altLang="en-US" sz="2800" dirty="0" smtClean="0">
                <a:solidFill>
                  <a:srgbClr val="000000"/>
                </a:solidFill>
                <a:latin typeface="宋体" panose="02010600030101010101" pitchFamily="2" charset="-122"/>
              </a:rPr>
              <a:t>３</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稳定的重要性</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不稳定的系统是无法进行工作的；因此，</a:t>
            </a:r>
            <a:r>
              <a:rPr lang="zh-CN" altLang="en-US" sz="2800" b="1" dirty="0" smtClean="0">
                <a:solidFill>
                  <a:srgbClr val="000000"/>
                </a:solidFill>
                <a:latin typeface="宋体" panose="02010600030101010101" pitchFamily="2" charset="-122"/>
              </a:rPr>
              <a:t>对任何自动控制系统，首要的条件便是系统能稳定正常运行。</a:t>
            </a:r>
            <a:endParaRPr lang="zh-CN" altLang="en-US" sz="2800" dirty="0" smtClean="0"/>
          </a:p>
        </p:txBody>
      </p:sp>
      <p:pic>
        <p:nvPicPr>
          <p:cNvPr id="50179" name="内容占位符 6" descr="tp1z13.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150938" y="2619375"/>
            <a:ext cx="6618287" cy="2789238"/>
          </a:xfrm>
        </p:spPr>
      </p:pic>
      <p:sp>
        <p:nvSpPr>
          <p:cNvPr id="50180" name="矩形 7"/>
          <p:cNvSpPr>
            <a:spLocks noChangeArrowheads="1"/>
          </p:cNvSpPr>
          <p:nvPr/>
        </p:nvSpPr>
        <p:spPr bwMode="auto">
          <a:xfrm>
            <a:off x="1062038" y="5499276"/>
            <a:ext cx="7019925"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dirty="0">
                <a:solidFill>
                  <a:srgbClr val="000000"/>
                </a:solidFill>
                <a:latin typeface="宋体" panose="02010600030101010101" pitchFamily="2" charset="-122"/>
              </a:rPr>
              <a:t>             </a:t>
            </a:r>
            <a:r>
              <a:rPr lang="zh-CN" altLang="en-US" sz="2000" dirty="0">
                <a:solidFill>
                  <a:srgbClr val="000000"/>
                </a:solidFill>
                <a:latin typeface="宋体" panose="02010600030101010101" pitchFamily="2" charset="-122"/>
              </a:rPr>
              <a:t>图</a:t>
            </a:r>
            <a:r>
              <a:rPr lang="en-US" altLang="zh-CN" sz="2000" dirty="0">
                <a:solidFill>
                  <a:srgbClr val="000000"/>
                </a:solidFill>
                <a:latin typeface="宋体" panose="02010600030101010101" pitchFamily="2" charset="-122"/>
              </a:rPr>
              <a:t>1-13 </a:t>
            </a:r>
            <a:r>
              <a:rPr lang="zh-CN" altLang="en-US" sz="2000" dirty="0">
                <a:solidFill>
                  <a:srgbClr val="000000"/>
                </a:solidFill>
                <a:latin typeface="宋体" panose="02010600030101010101" pitchFamily="2" charset="-122"/>
              </a:rPr>
              <a:t>稳定系统和不稳定</a:t>
            </a:r>
            <a:r>
              <a:rPr lang="zh-CN" altLang="en-US" sz="2000" dirty="0" smtClean="0">
                <a:solidFill>
                  <a:srgbClr val="000000"/>
                </a:solidFill>
                <a:latin typeface="宋体" panose="02010600030101010101" pitchFamily="2" charset="-122"/>
              </a:rPr>
              <a:t>系统</a:t>
            </a:r>
            <a:endParaRPr lang="en-US" altLang="zh-CN" sz="2000" dirty="0" smtClean="0">
              <a:solidFill>
                <a:srgbClr val="000000"/>
              </a:solidFill>
              <a:latin typeface="宋体" panose="02010600030101010101" pitchFamily="2" charset="-122"/>
            </a:endParaRPr>
          </a:p>
          <a:p>
            <a:pPr eaLnBrk="1" hangingPunct="1">
              <a:buFontTx/>
              <a:buNone/>
            </a:pPr>
            <a:r>
              <a:rPr lang="zh-CN" altLang="en-US" sz="2000" dirty="0"/>
              <a:t/>
            </a:r>
            <a:br>
              <a:rPr lang="zh-CN" altLang="en-US" sz="2000" dirty="0"/>
            </a:br>
            <a:r>
              <a:rPr lang="zh-CN" altLang="en-US" sz="2000" dirty="0"/>
              <a:t>             </a:t>
            </a:r>
            <a:r>
              <a:rPr lang="en-US" altLang="zh-CN" sz="2000" dirty="0">
                <a:solidFill>
                  <a:srgbClr val="000000"/>
                </a:solidFill>
                <a:latin typeface="宋体" panose="02010600030101010101" pitchFamily="2" charset="-122"/>
              </a:rPr>
              <a:t>a)</a:t>
            </a:r>
            <a:r>
              <a:rPr lang="zh-CN" altLang="en-US" sz="2000" dirty="0">
                <a:solidFill>
                  <a:srgbClr val="000000"/>
                </a:solidFill>
                <a:latin typeface="宋体" panose="02010600030101010101" pitchFamily="2" charset="-122"/>
              </a:rPr>
              <a:t>稳定系统                  </a:t>
            </a:r>
            <a:r>
              <a:rPr lang="en-US" altLang="zh-CN" sz="2000" dirty="0">
                <a:solidFill>
                  <a:srgbClr val="000000"/>
                </a:solidFill>
                <a:latin typeface="宋体" panose="02010600030101010101" pitchFamily="2" charset="-122"/>
              </a:rPr>
              <a:t>b)</a:t>
            </a:r>
            <a:r>
              <a:rPr lang="zh-CN" altLang="en-US" sz="2000" dirty="0">
                <a:solidFill>
                  <a:srgbClr val="000000"/>
                </a:solidFill>
                <a:latin typeface="宋体" panose="02010600030101010101" pitchFamily="2" charset="-122"/>
              </a:rPr>
              <a:t>不稳定系统</a:t>
            </a:r>
            <a:endParaRPr lang="zh-CN" altLang="en-US" sz="20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内容占位符 5"/>
              <p:cNvSpPr>
                <a:spLocks noGrp="1"/>
              </p:cNvSpPr>
              <p:nvPr>
                <p:ph idx="1"/>
              </p:nvPr>
            </p:nvSpPr>
            <p:spPr>
              <a:xfrm>
                <a:off x="457200" y="728663"/>
                <a:ext cx="8229600" cy="5397500"/>
              </a:xfrm>
            </p:spPr>
            <p:txBody>
              <a:bodyPr/>
              <a:lstStyle/>
              <a:p>
                <a:pPr marL="0">
                  <a:buFontTx/>
                  <a:buNone/>
                  <a:defRPr/>
                </a:pPr>
                <a:r>
                  <a:rPr lang="zh-CN" altLang="en-US" sz="2800" dirty="0" smtClean="0">
                    <a:latin typeface="+mn-ea"/>
                  </a:rPr>
                  <a:t>二、</a:t>
                </a:r>
                <a:r>
                  <a:rPr lang="zh-CN" altLang="en-US" sz="2800" dirty="0" smtClean="0">
                    <a:latin typeface="+mn-ea"/>
                    <a:cs typeface="+mn-ea"/>
                    <a:sym typeface="+mn-lt"/>
                  </a:rPr>
                  <a:t>系统的稳态性能指标 </a:t>
                </a:r>
                <a:r>
                  <a:rPr lang="en-US" altLang="zh-CN" sz="2800" dirty="0" smtClean="0">
                    <a:latin typeface="+mn-ea"/>
                    <a:cs typeface="+mn-ea"/>
                    <a:sym typeface="+mn-lt"/>
                  </a:rPr>
                  <a:t>(</a:t>
                </a:r>
                <a:r>
                  <a:rPr lang="en-US" altLang="zh-CN" sz="2800" dirty="0" smtClean="0">
                    <a:latin typeface="Times New Roman" panose="02020603050405020304" pitchFamily="18" charset="0"/>
                    <a:cs typeface="+mn-ea"/>
                    <a:sym typeface="+mn-lt"/>
                  </a:rPr>
                  <a:t>Steady-State Performance Specification</a:t>
                </a:r>
                <a:r>
                  <a:rPr lang="en-US" altLang="zh-CN" sz="2800" dirty="0" smtClean="0">
                    <a:latin typeface="+mn-ea"/>
                    <a:cs typeface="+mn-ea"/>
                    <a:sym typeface="+mn-lt"/>
                  </a:rPr>
                  <a:t>)</a:t>
                </a:r>
                <a:endParaRPr lang="zh-CN" altLang="en-US" sz="2800" dirty="0" smtClean="0">
                  <a:latin typeface="+mn-ea"/>
                  <a:cs typeface="+mn-ea"/>
                  <a:sym typeface="+mn-lt"/>
                </a:endParaRPr>
              </a:p>
              <a:p>
                <a:pPr marL="0" latinLnBrk="0">
                  <a:lnSpc>
                    <a:spcPct val="120000"/>
                  </a:lnSpc>
                  <a:spcBef>
                    <a:spcPts val="0"/>
                  </a:spcBef>
                  <a:buFontTx/>
                  <a:buNone/>
                  <a:defRPr/>
                </a:pPr>
                <a:r>
                  <a:rPr lang="zh-CN" altLang="en-US" sz="2800" dirty="0" smtClean="0"/>
                  <a:t>       当系统从一个稳态过渡到新的稳态，或系统受扰动作用又重新平衡后，系统会出现偏差，这种偏差称为稳态误差</a:t>
                </a:r>
                <a:r>
                  <a:rPr lang="en-US" altLang="zh-CN" sz="2800" dirty="0" smtClean="0"/>
                  <a:t>( </a:t>
                </a:r>
                <a14:m>
                  <m:oMath xmlns:m="http://schemas.openxmlformats.org/officeDocument/2006/math">
                    <m:r>
                      <a:rPr lang="en-US" altLang="zh-CN" sz="2800" i="1" dirty="0" smtClean="0">
                        <a:latin typeface="Cambria Math"/>
                      </a:rPr>
                      <m:t>𝑒</m:t>
                    </m:r>
                    <m:r>
                      <a:rPr lang="en-US" altLang="zh-CN" sz="2800" i="1" baseline="-25000" dirty="0" smtClean="0">
                        <a:latin typeface="Cambria Math"/>
                      </a:rPr>
                      <m:t>𝑠𝑠</m:t>
                    </m:r>
                  </m:oMath>
                </a14:m>
                <a:r>
                  <a:rPr lang="en-US" altLang="zh-CN" sz="2800" dirty="0" smtClean="0">
                    <a:latin typeface="Times New Roman" panose="02020603050405020304" pitchFamily="18" charset="0"/>
                  </a:rPr>
                  <a:t> </a:t>
                </a:r>
                <a:r>
                  <a:rPr lang="en-US" altLang="zh-CN" sz="2800" dirty="0" smtClean="0"/>
                  <a:t>)(</a:t>
                </a:r>
                <a:r>
                  <a:rPr lang="en-US" altLang="zh-CN" sz="2800" dirty="0" smtClean="0">
                    <a:latin typeface="Times New Roman" panose="02020603050405020304" pitchFamily="18" charset="0"/>
                  </a:rPr>
                  <a:t>Steady-State Error</a:t>
                </a:r>
                <a:r>
                  <a:rPr lang="en-US" altLang="zh-CN" sz="2800" dirty="0" smtClean="0"/>
                  <a:t>)</a:t>
                </a:r>
                <a:r>
                  <a:rPr lang="zh-CN" altLang="en-US" sz="2800" dirty="0" smtClean="0"/>
                  <a:t>。系统稳态误差的大小反映了系统的稳态精度</a:t>
                </a:r>
                <a:r>
                  <a:rPr lang="en-US" altLang="zh-CN" sz="2800" dirty="0" smtClean="0"/>
                  <a:t>(</a:t>
                </a:r>
                <a:r>
                  <a:rPr lang="zh-CN" altLang="en-US" sz="2800" dirty="0" smtClean="0"/>
                  <a:t>或静态精度</a:t>
                </a:r>
                <a:r>
                  <a:rPr lang="en-US" altLang="zh-CN" sz="2800" dirty="0" smtClean="0"/>
                  <a:t>)(</a:t>
                </a:r>
                <a:r>
                  <a:rPr lang="en-US" altLang="zh-CN" sz="2800" dirty="0" smtClean="0">
                    <a:latin typeface="Times New Roman" panose="02020603050405020304" pitchFamily="18" charset="0"/>
                  </a:rPr>
                  <a:t>Static Accuracy</a:t>
                </a:r>
                <a:r>
                  <a:rPr lang="en-US" altLang="zh-CN" sz="2800" dirty="0" smtClean="0"/>
                  <a:t>)</a:t>
                </a:r>
                <a:r>
                  <a:rPr lang="zh-CN" altLang="en-US" sz="2800" dirty="0" smtClean="0"/>
                  <a:t>，它表明了系统的准确程度。稳态误差</a:t>
                </a:r>
                <a:r>
                  <a:rPr lang="en-US" altLang="zh-CN" sz="2800" dirty="0" smtClean="0">
                    <a:latin typeface="Times New Roman" panose="02020603050405020304" pitchFamily="18" charset="0"/>
                    <a:sym typeface="+mn-ea"/>
                  </a:rPr>
                  <a:t>e</a:t>
                </a:r>
                <a:r>
                  <a:rPr lang="en-US" altLang="zh-CN" sz="2800" baseline="-25000" dirty="0" smtClean="0">
                    <a:latin typeface="Times New Roman" panose="02020603050405020304" pitchFamily="18" charset="0"/>
                    <a:sym typeface="+mn-ea"/>
                  </a:rPr>
                  <a:t>ss</a:t>
                </a:r>
                <a:r>
                  <a:rPr lang="zh-CN" altLang="en-US" sz="2800" dirty="0" smtClean="0"/>
                  <a:t> 越小，则系统的稳态精度越高。</a:t>
                </a:r>
                <a:br>
                  <a:rPr lang="zh-CN" altLang="en-US" sz="2800" dirty="0" smtClean="0"/>
                </a:br>
                <a:r>
                  <a:rPr lang="zh-CN" altLang="en-US" sz="2800" dirty="0" smtClean="0">
                    <a:solidFill>
                      <a:srgbClr val="000000"/>
                    </a:solidFill>
                    <a:latin typeface="宋体" panose="02010600030101010101" pitchFamily="2" charset="-122"/>
                  </a:rPr>
                  <a:t>１</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有静差系统</a:t>
                </a:r>
                <a:r>
                  <a:rPr lang="en-US" altLang="zh-CN" sz="2800" dirty="0" smtClean="0">
                    <a:solidFill>
                      <a:srgbClr val="000000"/>
                    </a:solidFill>
                    <a:latin typeface="宋体" panose="02010600030101010101" pitchFamily="2" charset="-122"/>
                  </a:rPr>
                  <a:t>:</a:t>
                </a:r>
                <a14:m>
                  <m:oMath xmlns:m="http://schemas.openxmlformats.org/officeDocument/2006/math">
                    <m:r>
                      <a:rPr lang="en-US" altLang="zh-CN" sz="2800" i="1" dirty="0" smtClean="0">
                        <a:latin typeface="Cambria Math"/>
                        <a:sym typeface="+mn-ea"/>
                      </a:rPr>
                      <m:t>𝑒</m:t>
                    </m:r>
                    <m:r>
                      <a:rPr lang="en-US" altLang="zh-CN" sz="2800" i="1" baseline="-25000" dirty="0" smtClean="0">
                        <a:latin typeface="Cambria Math"/>
                        <a:sym typeface="+mn-ea"/>
                      </a:rPr>
                      <m:t>𝑠𝑠</m:t>
                    </m:r>
                    <m:r>
                      <a:rPr lang="en-US" altLang="zh-CN" sz="2800" i="1" dirty="0" smtClean="0">
                        <a:solidFill>
                          <a:srgbClr val="000000"/>
                        </a:solidFill>
                        <a:latin typeface="Cambria Math"/>
                      </a:rPr>
                      <m:t>≠0</m:t>
                    </m:r>
                  </m:oMath>
                </a14:m>
                <a:r>
                  <a:rPr lang="zh-CN" altLang="en-US" sz="2800" dirty="0" smtClean="0">
                    <a:solidFill>
                      <a:srgbClr val="000000"/>
                    </a:solidFill>
                    <a:latin typeface="宋体" panose="02010600030101010101" pitchFamily="2" charset="-122"/>
                  </a:rPr>
                  <a:t>，如图</a:t>
                </a:r>
                <a:r>
                  <a:rPr lang="en-US" altLang="zh-CN" sz="2800" dirty="0" smtClean="0">
                    <a:solidFill>
                      <a:srgbClr val="000000"/>
                    </a:solidFill>
                    <a:latin typeface="宋体" panose="02010600030101010101" pitchFamily="2" charset="-122"/>
                  </a:rPr>
                  <a:t>1-14a</a:t>
                </a:r>
                <a:r>
                  <a:rPr lang="zh-CN" altLang="en-US" sz="2800" dirty="0" smtClean="0">
                    <a:solidFill>
                      <a:srgbClr val="000000"/>
                    </a:solidFill>
                    <a:latin typeface="宋体" panose="02010600030101010101" pitchFamily="2" charset="-122"/>
                  </a:rPr>
                  <a:t>所示。</a:t>
                </a:r>
                <a:r>
                  <a:rPr lang="zh-CN" altLang="en-US" sz="2800" dirty="0" smtClean="0"/>
                  <a:t/>
                </a:r>
                <a:br>
                  <a:rPr lang="zh-CN" altLang="en-US" sz="2800" dirty="0" smtClean="0"/>
                </a:br>
                <a:r>
                  <a:rPr lang="zh-CN" altLang="en-US" sz="2800" dirty="0" smtClean="0">
                    <a:solidFill>
                      <a:srgbClr val="000000"/>
                    </a:solidFill>
                    <a:latin typeface="宋体" panose="02010600030101010101" pitchFamily="2" charset="-122"/>
                  </a:rPr>
                  <a:t>２</a:t>
                </a:r>
                <a:r>
                  <a:rPr lang="en-US" altLang="zh-CN" sz="2800" dirty="0" smtClean="0">
                    <a:solidFill>
                      <a:srgbClr val="000000"/>
                    </a:solidFill>
                    <a:latin typeface="宋体" panose="02010600030101010101" pitchFamily="2" charset="-122"/>
                  </a:rPr>
                  <a:t>.</a:t>
                </a:r>
                <a:r>
                  <a:rPr lang="zh-CN" altLang="en-US" sz="2800" dirty="0" smtClean="0">
                    <a:solidFill>
                      <a:srgbClr val="000000"/>
                    </a:solidFill>
                    <a:latin typeface="宋体" panose="02010600030101010101" pitchFamily="2" charset="-122"/>
                  </a:rPr>
                  <a:t>无静差系统</a:t>
                </a:r>
                <a:r>
                  <a:rPr lang="en-US" altLang="zh-CN" sz="2800" dirty="0" smtClean="0">
                    <a:solidFill>
                      <a:srgbClr val="000000"/>
                    </a:solidFill>
                    <a:latin typeface="宋体" panose="02010600030101010101" pitchFamily="2" charset="-122"/>
                  </a:rPr>
                  <a:t>:</a:t>
                </a:r>
                <a14:m>
                  <m:oMath xmlns:m="http://schemas.openxmlformats.org/officeDocument/2006/math">
                    <m:r>
                      <a:rPr lang="en-US" altLang="zh-CN" sz="2800" i="1" dirty="0" smtClean="0">
                        <a:latin typeface="Cambria Math"/>
                        <a:sym typeface="+mn-ea"/>
                      </a:rPr>
                      <m:t>𝑒</m:t>
                    </m:r>
                    <m:r>
                      <a:rPr lang="en-US" altLang="zh-CN" sz="2800" i="1" baseline="-25000" dirty="0" err="1" smtClean="0">
                        <a:latin typeface="Cambria Math"/>
                        <a:sym typeface="+mn-ea"/>
                      </a:rPr>
                      <m:t>𝑠𝑠</m:t>
                    </m:r>
                    <m:r>
                      <a:rPr lang="en-US" altLang="zh-CN" sz="2800" i="1" dirty="0" smtClean="0">
                        <a:solidFill>
                          <a:srgbClr val="000000"/>
                        </a:solidFill>
                        <a:latin typeface="Cambria Math"/>
                      </a:rPr>
                      <m:t>=0</m:t>
                    </m:r>
                  </m:oMath>
                </a14:m>
                <a:r>
                  <a:rPr lang="zh-CN" altLang="en-US" sz="2800" dirty="0" smtClean="0">
                    <a:solidFill>
                      <a:srgbClr val="000000"/>
                    </a:solidFill>
                    <a:latin typeface="宋体" panose="02010600030101010101" pitchFamily="2" charset="-122"/>
                  </a:rPr>
                  <a:t>，如图</a:t>
                </a:r>
                <a:r>
                  <a:rPr lang="en-US" altLang="zh-CN" sz="2800" dirty="0" smtClean="0">
                    <a:solidFill>
                      <a:srgbClr val="000000"/>
                    </a:solidFill>
                    <a:latin typeface="宋体" panose="02010600030101010101" pitchFamily="2" charset="-122"/>
                  </a:rPr>
                  <a:t>1-14b</a:t>
                </a:r>
                <a:r>
                  <a:rPr lang="zh-CN" altLang="en-US" sz="2800" dirty="0" smtClean="0">
                    <a:solidFill>
                      <a:srgbClr val="000000"/>
                    </a:solidFill>
                    <a:latin typeface="宋体" panose="02010600030101010101" pitchFamily="2" charset="-122"/>
                  </a:rPr>
                  <a:t>所示。</a:t>
                </a:r>
                <a:endParaRPr lang="zh-CN" altLang="en-US" sz="2800" dirty="0"/>
              </a:p>
            </p:txBody>
          </p:sp>
        </mc:Choice>
        <mc:Fallback xmlns="">
          <p:sp>
            <p:nvSpPr>
              <p:cNvPr id="6" name="内容占位符 5"/>
              <p:cNvSpPr>
                <a:spLocks noGrp="1" noRot="1" noChangeAspect="1" noMove="1" noResize="1" noEditPoints="1" noAdjustHandles="1" noChangeArrowheads="1" noChangeShapeType="1" noTextEdit="1"/>
              </p:cNvSpPr>
              <p:nvPr>
                <p:ph idx="1"/>
              </p:nvPr>
            </p:nvSpPr>
            <p:spPr>
              <a:xfrm>
                <a:off x="457200" y="728663"/>
                <a:ext cx="8229600" cy="5397500"/>
              </a:xfrm>
              <a:blipFill rotWithShape="1">
                <a:blip r:embed="rId2"/>
                <a:stretch>
                  <a:fillRect l="-1481" t="-1469" r="-163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3" name="内容占位符 6" descr="tp1z14.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26306" y="1178700"/>
            <a:ext cx="7381875" cy="2992438"/>
          </a:xfrm>
        </p:spPr>
      </p:pic>
      <p:sp>
        <p:nvSpPr>
          <p:cNvPr id="51204" name="矩形 8"/>
          <p:cNvSpPr>
            <a:spLocks noChangeArrowheads="1"/>
          </p:cNvSpPr>
          <p:nvPr/>
        </p:nvSpPr>
        <p:spPr bwMode="auto">
          <a:xfrm>
            <a:off x="792163" y="4779963"/>
            <a:ext cx="7650162"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a:solidFill>
                  <a:srgbClr val="000000"/>
                </a:solidFill>
                <a:latin typeface="宋体" panose="02010600030101010101" pitchFamily="2" charset="-122"/>
              </a:rPr>
              <a:t>             </a:t>
            </a:r>
            <a:r>
              <a:rPr lang="zh-CN" altLang="en-US" sz="2000">
                <a:solidFill>
                  <a:srgbClr val="000000"/>
                </a:solidFill>
                <a:latin typeface="宋体" panose="02010600030101010101" pitchFamily="2" charset="-122"/>
              </a:rPr>
              <a:t>图</a:t>
            </a:r>
            <a:r>
              <a:rPr lang="en-US" altLang="zh-CN" sz="2000">
                <a:solidFill>
                  <a:srgbClr val="000000"/>
                </a:solidFill>
                <a:latin typeface="宋体" panose="02010600030101010101" pitchFamily="2" charset="-122"/>
              </a:rPr>
              <a:t>1-14 </a:t>
            </a:r>
            <a:r>
              <a:rPr lang="zh-CN" altLang="en-US" sz="2000">
                <a:solidFill>
                  <a:srgbClr val="000000"/>
                </a:solidFill>
                <a:latin typeface="宋体" panose="02010600030101010101" pitchFamily="2" charset="-122"/>
              </a:rPr>
              <a:t>自动控制系统的稳态性能</a:t>
            </a:r>
          </a:p>
          <a:p>
            <a:pPr eaLnBrk="1" hangingPunct="1">
              <a:buFontTx/>
              <a:buNone/>
            </a:pPr>
            <a:r>
              <a:rPr lang="zh-CN" altLang="en-US" sz="2000">
                <a:solidFill>
                  <a:srgbClr val="000000"/>
                </a:solidFill>
                <a:latin typeface="宋体" panose="02010600030101010101" pitchFamily="2" charset="-122"/>
              </a:rPr>
              <a:t></a:t>
            </a:r>
            <a:r>
              <a:rPr lang="zh-CN" altLang="en-US" sz="2000"/>
              <a:t/>
            </a:r>
            <a:br>
              <a:rPr lang="zh-CN" altLang="en-US" sz="2000"/>
            </a:br>
            <a:r>
              <a:rPr lang="zh-CN" altLang="en-US" sz="2000"/>
              <a:t>          </a:t>
            </a:r>
            <a:r>
              <a:rPr lang="en-US" altLang="zh-CN" sz="2000">
                <a:solidFill>
                  <a:srgbClr val="000000"/>
                </a:solidFill>
                <a:latin typeface="宋体" panose="02010600030101010101" pitchFamily="2" charset="-122"/>
              </a:rPr>
              <a:t>a)</a:t>
            </a:r>
            <a:r>
              <a:rPr lang="zh-CN" altLang="en-US" sz="2000">
                <a:solidFill>
                  <a:srgbClr val="000000"/>
                </a:solidFill>
                <a:latin typeface="宋体" panose="02010600030101010101" pitchFamily="2" charset="-122"/>
              </a:rPr>
              <a:t>有静差系统                      </a:t>
            </a:r>
            <a:r>
              <a:rPr lang="en-US" altLang="zh-CN" sz="2000">
                <a:solidFill>
                  <a:srgbClr val="000000"/>
                </a:solidFill>
                <a:latin typeface="宋体" panose="02010600030101010101" pitchFamily="2" charset="-122"/>
              </a:rPr>
              <a:t>b)</a:t>
            </a:r>
            <a:r>
              <a:rPr lang="zh-CN" altLang="en-US" sz="2000">
                <a:solidFill>
                  <a:srgbClr val="000000"/>
                </a:solidFill>
                <a:latin typeface="宋体" panose="02010600030101010101" pitchFamily="2" charset="-122"/>
              </a:rPr>
              <a:t>无静差系统</a:t>
            </a:r>
            <a:endParaRPr lang="zh-CN" altLang="en-US" sz="200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543243"/>
            <a:ext cx="8229600" cy="1143000"/>
          </a:xfrm>
        </p:spPr>
        <p:txBody>
          <a:bodyPr/>
          <a:lstStyle/>
          <a:p>
            <a:r>
              <a:rPr lang="zh-CN" altLang="zh-CN" sz="3600"/>
              <a:t>三、系统动态性能指标（</a:t>
            </a:r>
            <a:r>
              <a:rPr lang="en-US" altLang="zh-CN" sz="3600">
                <a:latin typeface="Times New Roman" panose="02020603050405020304" pitchFamily="18" charset="0"/>
              </a:rPr>
              <a:t>Dynamic Performance Specification</a:t>
            </a:r>
            <a:r>
              <a:rPr lang="zh-CN" altLang="en-US" sz="3600"/>
              <a:t>）</a:t>
            </a:r>
          </a:p>
        </p:txBody>
      </p:sp>
      <p:sp>
        <p:nvSpPr>
          <p:cNvPr id="3" name="内容占位符 2"/>
          <p:cNvSpPr>
            <a:spLocks noGrp="1"/>
          </p:cNvSpPr>
          <p:nvPr>
            <p:ph idx="1"/>
          </p:nvPr>
        </p:nvSpPr>
        <p:spPr>
          <a:xfrm>
            <a:off x="457200" y="1958340"/>
            <a:ext cx="8229600" cy="4525963"/>
          </a:xfrm>
        </p:spPr>
        <p:txBody>
          <a:bodyPr/>
          <a:lstStyle/>
          <a:p>
            <a:pPr marL="0" indent="720000" latinLnBrk="0">
              <a:lnSpc>
                <a:spcPct val="120000"/>
              </a:lnSpc>
              <a:spcBef>
                <a:spcPts val="0"/>
              </a:spcBef>
              <a:buNone/>
            </a:pPr>
            <a:r>
              <a:rPr lang="zh-CN" altLang="en-US" sz="2800" dirty="0"/>
              <a:t>系统从一个稳态过渡到新的稳态都需要经历一段时间，也即需要经历一个过渡过程。表征这个过渡过程性能的指标叫做动态指标。现在以系统对突加给定信号（阶跃信号）的动态响应为例来介绍动态指标。</a:t>
            </a:r>
          </a:p>
          <a:p>
            <a:pPr marL="0" indent="720000" latinLnBrk="0">
              <a:lnSpc>
                <a:spcPct val="120000"/>
              </a:lnSpc>
              <a:spcBef>
                <a:spcPts val="0"/>
              </a:spcBef>
              <a:buNone/>
            </a:pPr>
            <a:r>
              <a:rPr lang="zh-CN" altLang="en-US" sz="2800" dirty="0">
                <a:latin typeface="+mn-ea"/>
              </a:rPr>
              <a:t>图</a:t>
            </a:r>
            <a:r>
              <a:rPr lang="en-US" altLang="zh-CN" sz="2800" dirty="0">
                <a:latin typeface="+mn-ea"/>
              </a:rPr>
              <a:t>1-15</a:t>
            </a:r>
            <a:r>
              <a:rPr lang="zh-CN" altLang="en-US" sz="2800" dirty="0"/>
              <a:t>为系统对突加给定信号的动态响应曲线。动态指标通常用最大超调量、调整时间和振荡次数来衡量。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内容占位符 3" descr="tp1z15.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70280" y="1064895"/>
            <a:ext cx="7108190" cy="4180205"/>
          </a:xfrm>
        </p:spPr>
      </p:pic>
      <p:sp>
        <p:nvSpPr>
          <p:cNvPr id="52227" name="矩形 4"/>
          <p:cNvSpPr>
            <a:spLocks noChangeArrowheads="1"/>
          </p:cNvSpPr>
          <p:nvPr/>
        </p:nvSpPr>
        <p:spPr bwMode="auto">
          <a:xfrm>
            <a:off x="1781175" y="5589588"/>
            <a:ext cx="666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a:t>图</a:t>
            </a:r>
            <a:r>
              <a:rPr lang="en-US" altLang="zh-CN" sz="2000"/>
              <a:t>1-15  </a:t>
            </a:r>
            <a:r>
              <a:rPr lang="zh-CN" altLang="en-US" sz="2000"/>
              <a:t>系统对突加给定信号的动态响应曲线</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28" name="内容占位符 2"/>
              <p:cNvSpPr>
                <a:spLocks noGrp="1"/>
              </p:cNvSpPr>
              <p:nvPr>
                <p:ph idx="1"/>
              </p:nvPr>
            </p:nvSpPr>
            <p:spPr>
              <a:xfrm>
                <a:off x="457200" y="1242060"/>
                <a:ext cx="8229600" cy="4525963"/>
              </a:xfrm>
            </p:spPr>
            <p:txBody>
              <a:bodyPr/>
              <a:lstStyle/>
              <a:p>
                <a:pPr marL="0" latinLnBrk="0">
                  <a:lnSpc>
                    <a:spcPct val="120000"/>
                  </a:lnSpc>
                  <a:spcBef>
                    <a:spcPts val="0"/>
                  </a:spcBef>
                  <a:buFontTx/>
                  <a:buNone/>
                </a:pPr>
                <a:r>
                  <a:rPr lang="en-US" altLang="zh-CN" sz="2800" dirty="0" smtClean="0"/>
                  <a:t>1.</a:t>
                </a:r>
                <a:r>
                  <a:rPr lang="zh-CN" altLang="en-US" sz="2800" dirty="0" smtClean="0"/>
                  <a:t>最大超调量</a:t>
                </a:r>
                <a:r>
                  <a:rPr lang="en-US" altLang="zh-CN" sz="2800" dirty="0" smtClean="0"/>
                  <a:t>(</a:t>
                </a:r>
                <a14:m>
                  <m:oMath xmlns:m="http://schemas.openxmlformats.org/officeDocument/2006/math">
                    <m:r>
                      <a:rPr lang="el-GR" altLang="zh-CN" sz="2800" i="1" dirty="0" smtClean="0">
                        <a:latin typeface="Cambria Math"/>
                      </a:rPr>
                      <m:t>𝜎</m:t>
                    </m:r>
                  </m:oMath>
                </a14:m>
                <a:r>
                  <a:rPr lang="en-US" altLang="zh-CN" sz="2800" dirty="0" smtClean="0"/>
                  <a:t>)(</a:t>
                </a:r>
                <a:r>
                  <a:rPr lang="en-US" altLang="zh-CN" sz="2800" dirty="0" smtClean="0">
                    <a:latin typeface="Times New Roman" panose="02020603050405020304" pitchFamily="18" charset="0"/>
                  </a:rPr>
                  <a:t>Maximum Overshoot</a:t>
                </a:r>
                <a:r>
                  <a:rPr lang="en-US" altLang="zh-CN" sz="2800" dirty="0" smtClean="0"/>
                  <a:t>)</a:t>
                </a:r>
                <a:br>
                  <a:rPr lang="en-US" altLang="zh-CN" sz="2800" dirty="0" smtClean="0"/>
                </a:br>
                <a:r>
                  <a:rPr lang="zh-CN" altLang="en-US" sz="2800" dirty="0" smtClean="0"/>
                  <a:t>　　最大超调量是输出量</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𝐶</m:t>
                        </m:r>
                      </m:e>
                      <m:sub>
                        <m:r>
                          <a:rPr lang="en-US" altLang="zh-CN" sz="2800" b="0" i="1" smtClean="0">
                            <a:latin typeface="Cambria Math"/>
                          </a:rPr>
                          <m:t>(</m:t>
                        </m:r>
                        <m:r>
                          <a:rPr lang="en-US" altLang="zh-CN" sz="2800" b="0" i="1" smtClean="0">
                            <a:latin typeface="Cambria Math"/>
                          </a:rPr>
                          <m:t>𝑡</m:t>
                        </m:r>
                        <m:r>
                          <a:rPr lang="en-US" altLang="zh-CN" sz="2800" b="0" i="1" smtClean="0">
                            <a:latin typeface="Cambria Math"/>
                          </a:rPr>
                          <m:t>)</m:t>
                        </m:r>
                      </m:sub>
                    </m:sSub>
                  </m:oMath>
                </a14:m>
                <a:r>
                  <a:rPr lang="zh-CN" altLang="en-US" sz="2800" dirty="0" smtClean="0"/>
                  <a:t>与稳态值</a:t>
                </a:r>
                <a14:m>
                  <m:oMath xmlns:m="http://schemas.openxmlformats.org/officeDocument/2006/math">
                    <m:sSub>
                      <m:sSubPr>
                        <m:ctrlPr>
                          <a:rPr lang="en-US" altLang="zh-CN" sz="2800" i="1" dirty="0">
                            <a:latin typeface="Cambria Math"/>
                          </a:rPr>
                        </m:ctrlPr>
                      </m:sSubPr>
                      <m:e>
                        <m:r>
                          <a:rPr lang="en-US" altLang="zh-CN" sz="2800" i="1" dirty="0">
                            <a:latin typeface="Cambria Math"/>
                          </a:rPr>
                          <m:t>𝐶</m:t>
                        </m:r>
                      </m:e>
                      <m:sub>
                        <m:r>
                          <a:rPr lang="en-US" altLang="zh-CN" sz="2800" i="1" dirty="0">
                            <a:latin typeface="Cambria Math"/>
                          </a:rPr>
                          <m:t>(</m:t>
                        </m:r>
                        <m:r>
                          <a:rPr lang="en-US" altLang="zh-CN" sz="2800" i="1" dirty="0">
                            <a:latin typeface="Cambria Math"/>
                            <a:ea typeface="Cambria Math"/>
                          </a:rPr>
                          <m:t>∞</m:t>
                        </m:r>
                        <m:r>
                          <a:rPr lang="en-US" altLang="zh-CN" sz="2800" i="1" dirty="0">
                            <a:latin typeface="Cambria Math"/>
                          </a:rPr>
                          <m:t>)</m:t>
                        </m:r>
                      </m:sub>
                    </m:sSub>
                  </m:oMath>
                </a14:m>
                <a:r>
                  <a:rPr lang="zh-CN" altLang="en-US" sz="2800" dirty="0" smtClean="0"/>
                  <a:t>的最大偏差</a:t>
                </a:r>
                <a14:m>
                  <m:oMath xmlns:m="http://schemas.openxmlformats.org/officeDocument/2006/math">
                    <m:r>
                      <a:rPr lang="zh-CN" altLang="en-US" sz="2800" i="1" smtClean="0">
                        <a:latin typeface="Cambria Math"/>
                      </a:rPr>
                      <m:t>∆</m:t>
                    </m:r>
                    <m:sSub>
                      <m:sSubPr>
                        <m:ctrlPr>
                          <a:rPr lang="en-US" altLang="zh-CN" sz="2800" i="1" smtClean="0">
                            <a:latin typeface="Cambria Math"/>
                          </a:rPr>
                        </m:ctrlPr>
                      </m:sSubPr>
                      <m:e>
                        <m:r>
                          <a:rPr lang="en-US" altLang="zh-CN" sz="2800" b="0" i="1" smtClean="0">
                            <a:latin typeface="Cambria Math"/>
                          </a:rPr>
                          <m:t>𝐶</m:t>
                        </m:r>
                      </m:e>
                      <m:sub>
                        <m:r>
                          <a:rPr lang="en-US" altLang="zh-CN" sz="2800" b="0" i="1" smtClean="0">
                            <a:latin typeface="Cambria Math"/>
                          </a:rPr>
                          <m:t>𝑚𝑎𝑥</m:t>
                        </m:r>
                      </m:sub>
                    </m:sSub>
                  </m:oMath>
                </a14:m>
                <a:r>
                  <a:rPr lang="zh-CN" altLang="en-US" sz="2800" dirty="0" smtClean="0"/>
                  <a:t>与稳态值</a:t>
                </a:r>
                <a14:m>
                  <m:oMath xmlns:m="http://schemas.openxmlformats.org/officeDocument/2006/math">
                    <m:sSub>
                      <m:sSubPr>
                        <m:ctrlPr>
                          <a:rPr lang="en-US" altLang="zh-CN" sz="2800" i="1" dirty="0" smtClean="0">
                            <a:latin typeface="Cambria Math"/>
                          </a:rPr>
                        </m:ctrlPr>
                      </m:sSubPr>
                      <m:e>
                        <m:r>
                          <a:rPr lang="en-US" altLang="zh-CN" sz="2800" b="0" i="1" dirty="0" smtClean="0">
                            <a:latin typeface="Cambria Math"/>
                          </a:rPr>
                          <m:t>𝐶</m:t>
                        </m:r>
                      </m:e>
                      <m:sub>
                        <m:r>
                          <a:rPr lang="en-US" altLang="zh-CN" sz="2800" b="0" i="1" dirty="0" smtClean="0">
                            <a:latin typeface="Cambria Math"/>
                          </a:rPr>
                          <m:t>(</m:t>
                        </m:r>
                        <m:r>
                          <a:rPr lang="en-US" altLang="zh-CN" sz="2800" b="0" i="1" dirty="0" smtClean="0">
                            <a:latin typeface="Cambria Math"/>
                            <a:ea typeface="Cambria Math"/>
                          </a:rPr>
                          <m:t>∞</m:t>
                        </m:r>
                        <m:r>
                          <a:rPr lang="en-US" altLang="zh-CN" sz="2800" b="0" i="1" dirty="0" smtClean="0">
                            <a:latin typeface="Cambria Math"/>
                          </a:rPr>
                          <m:t>)</m:t>
                        </m:r>
                      </m:sub>
                    </m:sSub>
                  </m:oMath>
                </a14:m>
                <a:r>
                  <a:rPr lang="zh-CN" altLang="en-US" sz="2800" dirty="0" smtClean="0"/>
                  <a:t>之比。</a:t>
                </a:r>
                <a:br>
                  <a:rPr lang="zh-CN" altLang="en-US" sz="2800" dirty="0" smtClean="0"/>
                </a:br>
                <a:r>
                  <a:rPr lang="zh-CN" altLang="en-US" sz="2800" dirty="0" smtClean="0"/>
                  <a:t>　　即</a:t>
                </a:r>
                <a14:m>
                  <m:oMath xmlns:m="http://schemas.openxmlformats.org/officeDocument/2006/math">
                    <m:r>
                      <m:rPr>
                        <m:sty m:val="p"/>
                      </m:rPr>
                      <a:rPr lang="el-GR" altLang="zh-CN" sz="2800" i="1" dirty="0" smtClean="0">
                        <a:latin typeface="Cambria Math"/>
                        <a:ea typeface="Cambria Math"/>
                      </a:rPr>
                      <m:t>σ</m:t>
                    </m:r>
                    <m:r>
                      <a:rPr lang="en-US" altLang="zh-CN" sz="2800" b="0" i="1" dirty="0" smtClean="0">
                        <a:latin typeface="Cambria Math"/>
                        <a:ea typeface="Cambria Math"/>
                      </a:rPr>
                      <m:t>=∆</m:t>
                    </m:r>
                    <m:sSub>
                      <m:sSubPr>
                        <m:ctrlPr>
                          <a:rPr lang="en-US" altLang="zh-CN" sz="2800" b="0" i="1" dirty="0" smtClean="0">
                            <a:latin typeface="Cambria Math"/>
                            <a:ea typeface="Cambria Math"/>
                          </a:rPr>
                        </m:ctrlPr>
                      </m:sSubPr>
                      <m:e>
                        <m:r>
                          <a:rPr lang="en-US" altLang="zh-CN" sz="2800" b="0" i="1" dirty="0" smtClean="0">
                            <a:latin typeface="Cambria Math"/>
                            <a:ea typeface="Cambria Math"/>
                          </a:rPr>
                          <m:t>𝐶</m:t>
                        </m:r>
                      </m:e>
                      <m:sub>
                        <m:func>
                          <m:funcPr>
                            <m:ctrlPr>
                              <a:rPr lang="en-US" altLang="zh-CN" sz="2800" b="0" i="1" dirty="0" smtClean="0">
                                <a:latin typeface="Cambria Math"/>
                                <a:ea typeface="Cambria Math"/>
                              </a:rPr>
                            </m:ctrlPr>
                          </m:funcPr>
                          <m:fName>
                            <m:r>
                              <m:rPr>
                                <m:sty m:val="p"/>
                              </m:rPr>
                              <a:rPr lang="en-US" altLang="zh-CN" sz="2800" b="0" i="0" dirty="0" smtClean="0">
                                <a:latin typeface="Cambria Math"/>
                                <a:ea typeface="Cambria Math"/>
                              </a:rPr>
                              <m:t>max</m:t>
                            </m:r>
                          </m:fName>
                          <m:e>
                            <m:r>
                              <a:rPr lang="en-US" altLang="zh-CN" sz="2800" b="0" i="1" dirty="0" smtClean="0">
                                <a:latin typeface="Cambria Math"/>
                                <a:ea typeface="Cambria Math"/>
                              </a:rPr>
                              <m:t> </m:t>
                            </m:r>
                          </m:e>
                        </m:func>
                      </m:sub>
                    </m:sSub>
                    <m:r>
                      <a:rPr lang="en-US" altLang="zh-CN" sz="2800" b="0" i="1" dirty="0" smtClean="0">
                        <a:latin typeface="Cambria Math"/>
                        <a:ea typeface="Cambria Math"/>
                      </a:rPr>
                      <m:t>/</m:t>
                    </m:r>
                    <m:sSub>
                      <m:sSubPr>
                        <m:ctrlPr>
                          <a:rPr lang="en-US" altLang="zh-CN" sz="2800" b="0" i="1" dirty="0" smtClean="0">
                            <a:latin typeface="Cambria Math"/>
                            <a:ea typeface="Cambria Math"/>
                          </a:rPr>
                        </m:ctrlPr>
                      </m:sSubPr>
                      <m:e>
                        <m:r>
                          <a:rPr lang="en-US" altLang="zh-CN" sz="2800" b="0" i="1" dirty="0" smtClean="0">
                            <a:latin typeface="Cambria Math"/>
                            <a:ea typeface="Cambria Math"/>
                          </a:rPr>
                          <m:t>𝐶</m:t>
                        </m:r>
                      </m:e>
                      <m:sub>
                        <m:r>
                          <a:rPr lang="en-US" altLang="zh-CN" sz="2800" b="0" i="1" dirty="0" smtClean="0">
                            <a:latin typeface="Cambria Math"/>
                            <a:ea typeface="Cambria Math"/>
                          </a:rPr>
                          <m:t>(∞)</m:t>
                        </m:r>
                      </m:sub>
                    </m:sSub>
                    <m:r>
                      <a:rPr lang="en-US" altLang="zh-CN" sz="2800" b="0" i="1" dirty="0" smtClean="0">
                        <a:latin typeface="Cambria Math"/>
                        <a:ea typeface="Cambria Math"/>
                      </a:rPr>
                      <m:t>×</m:t>
                    </m:r>
                    <m:r>
                      <a:rPr lang="en-US" altLang="zh-CN" sz="2800" i="1" dirty="0" smtClean="0">
                        <a:latin typeface="Cambria Math"/>
                      </a:rPr>
                      <m:t>100%</m:t>
                    </m:r>
                  </m:oMath>
                </a14:m>
                <a:r>
                  <a:rPr lang="zh-CN" altLang="en-US" sz="2800" dirty="0" smtClean="0"/>
                  <a:t/>
                </a:r>
                <a:br>
                  <a:rPr lang="zh-CN" altLang="en-US" sz="2800" dirty="0" smtClean="0"/>
                </a:br>
                <a:r>
                  <a:rPr lang="zh-CN" altLang="en-US" sz="2800" dirty="0" smtClean="0"/>
                  <a:t>　　最大超调量反映了系统的动态精度，最大超调量越小，则说明系统过渡过程进行得越平稳。</a:t>
                </a:r>
                <a:br>
                  <a:rPr lang="zh-CN" altLang="en-US" sz="2800" dirty="0" smtClean="0"/>
                </a:br>
                <a:r>
                  <a:rPr lang="zh-CN" altLang="en-US" sz="2800" dirty="0" smtClean="0"/>
                  <a:t>　　轧钢机的初轧机要求</a:t>
                </a:r>
                <a14:m>
                  <m:oMath xmlns:m="http://schemas.openxmlformats.org/officeDocument/2006/math">
                    <m:r>
                      <a:rPr lang="el-GR" altLang="zh-CN" sz="2800" i="1" dirty="0" smtClean="0">
                        <a:latin typeface="Cambria Math"/>
                      </a:rPr>
                      <m:t>𝜎</m:t>
                    </m:r>
                  </m:oMath>
                </a14:m>
                <a:r>
                  <a:rPr lang="zh-CN" altLang="en-US" sz="2800" dirty="0" smtClean="0"/>
                  <a:t>小于</a:t>
                </a:r>
                <a:r>
                  <a:rPr lang="en-US" altLang="zh-CN" sz="2800" dirty="0">
                    <a:latin typeface="+mn-ea"/>
                  </a:rPr>
                  <a:t>10%</a:t>
                </a:r>
                <a:r>
                  <a:rPr lang="zh-CN" altLang="en-US" sz="2800" dirty="0" smtClean="0"/>
                  <a:t>；对连轧</a:t>
                </a:r>
                <a14:m>
                  <m:oMath xmlns:m="http://schemas.openxmlformats.org/officeDocument/2006/math">
                    <m:r>
                      <a:rPr lang="el-GR" altLang="zh-CN" sz="2800" i="1" dirty="0" smtClean="0">
                        <a:latin typeface="Cambria Math"/>
                      </a:rPr>
                      <m:t>𝜎</m:t>
                    </m:r>
                  </m:oMath>
                </a14:m>
                <a:r>
                  <a:rPr lang="zh-CN" altLang="en-US" sz="2800" dirty="0" smtClean="0"/>
                  <a:t>机则要求小于</a:t>
                </a:r>
                <a:r>
                  <a:rPr lang="en-US" altLang="zh-CN" sz="2800" dirty="0">
                    <a:latin typeface="+mn-ea"/>
                  </a:rPr>
                  <a:t>2%</a:t>
                </a:r>
                <a:r>
                  <a:rPr lang="zh-CN" altLang="en-US" sz="2800" dirty="0">
                    <a:latin typeface="+mn-ea"/>
                  </a:rPr>
                  <a:t>～</a:t>
                </a:r>
                <a:r>
                  <a:rPr lang="en-US" altLang="zh-CN" sz="2800" dirty="0">
                    <a:latin typeface="+mn-ea"/>
                  </a:rPr>
                  <a:t>5%</a:t>
                </a:r>
                <a:r>
                  <a:rPr lang="zh-CN" altLang="en-US" sz="2800" dirty="0" smtClean="0"/>
                  <a:t>；而在张力控制的卷取机和造纸机等则不允许有超调量。</a:t>
                </a:r>
                <a:endParaRPr lang="zh-CN" altLang="en-US" dirty="0" smtClean="0"/>
              </a:p>
            </p:txBody>
          </p:sp>
        </mc:Choice>
        <mc:Fallback xmlns="">
          <p:sp>
            <p:nvSpPr>
              <p:cNvPr id="5128" name="内容占位符 2"/>
              <p:cNvSpPr>
                <a:spLocks noGrp="1" noRot="1" noChangeAspect="1" noMove="1" noResize="1" noEditPoints="1" noAdjustHandles="1" noChangeArrowheads="1" noChangeShapeType="1" noTextEdit="1"/>
              </p:cNvSpPr>
              <p:nvPr>
                <p:ph idx="1"/>
              </p:nvPr>
            </p:nvSpPr>
            <p:spPr>
              <a:xfrm>
                <a:off x="457200" y="1242060"/>
                <a:ext cx="8229600" cy="4525963"/>
              </a:xfrm>
              <a:blipFill rotWithShape="1">
                <a:blip r:embed="rId2"/>
                <a:stretch>
                  <a:fillRect l="-1481" t="-943" r="-74" b="-943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998676"/>
                <a:ext cx="8229600" cy="4924604"/>
              </a:xfrm>
            </p:spPr>
            <p:txBody>
              <a:bodyPr/>
              <a:lstStyle/>
              <a:p>
                <a:pPr marL="0" latinLnBrk="0">
                  <a:lnSpc>
                    <a:spcPct val="120000"/>
                  </a:lnSpc>
                  <a:spcBef>
                    <a:spcPts val="0"/>
                  </a:spcBef>
                  <a:buFontTx/>
                  <a:buNone/>
                  <a:defRPr/>
                </a:pPr>
                <a:r>
                  <a:rPr lang="en-US" altLang="zh-CN" sz="2800" dirty="0" smtClean="0">
                    <a:latin typeface="+mn-ea"/>
                  </a:rPr>
                  <a:t>2.</a:t>
                </a:r>
                <a:r>
                  <a:rPr lang="zh-CN" altLang="en-US" sz="2800" dirty="0" smtClean="0">
                    <a:latin typeface="+mn-ea"/>
                  </a:rPr>
                  <a:t>调整时间</a:t>
                </a:r>
                <a:r>
                  <a:rPr lang="en-US" altLang="zh-CN" sz="2800" dirty="0" smtClean="0">
                    <a:latin typeface="+mn-ea"/>
                  </a:rPr>
                  <a:t>(</a:t>
                </a:r>
                <a14:m>
                  <m:oMath xmlns:m="http://schemas.openxmlformats.org/officeDocument/2006/math">
                    <m:sSub>
                      <m:sSubPr>
                        <m:ctrlPr>
                          <a:rPr lang="en-US" altLang="zh-CN" sz="2800" i="1">
                            <a:latin typeface="Cambria Math"/>
                          </a:rPr>
                        </m:ctrlPr>
                      </m:sSubPr>
                      <m:e>
                        <m:r>
                          <a:rPr lang="en-US" altLang="zh-CN" sz="2800" i="1">
                            <a:latin typeface="Cambria Math"/>
                          </a:rPr>
                          <m:t>𝑡</m:t>
                        </m:r>
                      </m:e>
                      <m:sub>
                        <m:r>
                          <a:rPr lang="en-US" altLang="zh-CN" sz="2800" i="1">
                            <a:latin typeface="Cambria Math"/>
                          </a:rPr>
                          <m:t>𝑠</m:t>
                        </m:r>
                      </m:sub>
                    </m:sSub>
                  </m:oMath>
                </a14:m>
                <a:r>
                  <a:rPr lang="en-US" altLang="zh-CN" sz="2800" dirty="0" smtClean="0">
                    <a:latin typeface="+mn-ea"/>
                  </a:rPr>
                  <a:t>)(</a:t>
                </a:r>
                <a:r>
                  <a:rPr lang="en-US" altLang="zh-CN" sz="2800" dirty="0" smtClean="0">
                    <a:latin typeface="Times New Roman" panose="02020603050405020304" pitchFamily="18" charset="0"/>
                  </a:rPr>
                  <a:t>Settling Time</a:t>
                </a:r>
                <a:r>
                  <a:rPr lang="en-US" altLang="zh-CN" sz="2800" dirty="0" smtClean="0">
                    <a:latin typeface="+mn-ea"/>
                  </a:rPr>
                  <a:t>)</a:t>
                </a:r>
                <a:br>
                  <a:rPr lang="en-US" altLang="zh-CN" sz="2800" dirty="0" smtClean="0">
                    <a:latin typeface="+mn-ea"/>
                  </a:rPr>
                </a:br>
                <a:r>
                  <a:rPr lang="zh-CN" altLang="en-US" sz="2800" dirty="0" smtClean="0">
                    <a:latin typeface="+mn-ea"/>
                  </a:rPr>
                  <a:t>　　调整时间</a:t>
                </a:r>
                <a:r>
                  <a:rPr lang="en-US" altLang="zh-CN" sz="2800" dirty="0" smtClean="0">
                    <a:latin typeface="+mn-ea"/>
                  </a:rPr>
                  <a:t>(</a:t>
                </a:r>
                <a14:m>
                  <m:oMath xmlns:m="http://schemas.openxmlformats.org/officeDocument/2006/math">
                    <m:sSub>
                      <m:sSubPr>
                        <m:ctrlPr>
                          <a:rPr lang="en-US" altLang="zh-CN" sz="2800" i="1">
                            <a:latin typeface="Cambria Math"/>
                          </a:rPr>
                        </m:ctrlPr>
                      </m:sSubPr>
                      <m:e>
                        <m:r>
                          <a:rPr lang="en-US" altLang="zh-CN" sz="2800" i="1">
                            <a:latin typeface="Cambria Math"/>
                          </a:rPr>
                          <m:t>𝑡</m:t>
                        </m:r>
                      </m:e>
                      <m:sub>
                        <m:r>
                          <a:rPr lang="en-US" altLang="zh-CN" sz="2800" i="1">
                            <a:latin typeface="Cambria Math"/>
                          </a:rPr>
                          <m:t>𝑠</m:t>
                        </m:r>
                      </m:sub>
                    </m:sSub>
                  </m:oMath>
                </a14:m>
                <a:r>
                  <a:rPr lang="en-US" altLang="zh-CN" sz="2800" dirty="0" smtClean="0">
                    <a:latin typeface="+mn-ea"/>
                  </a:rPr>
                  <a:t>)</a:t>
                </a:r>
                <a:r>
                  <a:rPr lang="zh-CN" altLang="en-US" sz="2800" dirty="0" smtClean="0">
                    <a:latin typeface="+mn-ea"/>
                  </a:rPr>
                  <a:t>是系统输出量进入并一直保持在离稳态值的允许误差带内所需要的时间。</a:t>
                </a:r>
                <a:br>
                  <a:rPr lang="zh-CN" altLang="en-US" sz="2800" dirty="0" smtClean="0">
                    <a:latin typeface="+mn-ea"/>
                  </a:rPr>
                </a:br>
                <a:r>
                  <a:rPr lang="zh-CN" altLang="en-US" sz="2800" dirty="0" smtClean="0">
                    <a:latin typeface="+mn-ea"/>
                  </a:rPr>
                  <a:t>　　调整时间反映了系统的快速性。调整时间</a:t>
                </a:r>
                <a14:m>
                  <m:oMath xmlns:m="http://schemas.openxmlformats.org/officeDocument/2006/math">
                    <m:sSub>
                      <m:sSubPr>
                        <m:ctrlPr>
                          <a:rPr lang="en-US" altLang="zh-CN" sz="2800" i="1" smtClean="0">
                            <a:latin typeface="Cambria Math"/>
                          </a:rPr>
                        </m:ctrlPr>
                      </m:sSubPr>
                      <m:e>
                        <m:r>
                          <a:rPr lang="en-US" altLang="zh-CN" sz="2800" i="1">
                            <a:latin typeface="Cambria Math"/>
                          </a:rPr>
                          <m:t>𝑡</m:t>
                        </m:r>
                      </m:e>
                      <m:sub>
                        <m:r>
                          <a:rPr lang="en-US" altLang="zh-CN" sz="2800" i="1">
                            <a:latin typeface="Cambria Math"/>
                          </a:rPr>
                          <m:t>𝑠</m:t>
                        </m:r>
                      </m:sub>
                    </m:sSub>
                  </m:oMath>
                </a14:m>
                <a:r>
                  <a:rPr lang="zh-CN" altLang="en-US" sz="2800" dirty="0" smtClean="0">
                    <a:latin typeface="+mn-ea"/>
                  </a:rPr>
                  <a:t>越小，系统快速性越好。例如连轧机</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𝑡</m:t>
                        </m:r>
                      </m:e>
                      <m:sub>
                        <m:r>
                          <a:rPr lang="en-US" altLang="zh-CN" sz="2800" b="0" i="1" smtClean="0">
                            <a:latin typeface="Cambria Math"/>
                          </a:rPr>
                          <m:t>𝑠</m:t>
                        </m:r>
                      </m:sub>
                    </m:sSub>
                  </m:oMath>
                </a14:m>
                <a:r>
                  <a:rPr lang="zh-CN" altLang="en-US" sz="2800" dirty="0" smtClean="0">
                    <a:latin typeface="+mn-ea"/>
                  </a:rPr>
                  <a:t>为</a:t>
                </a:r>
                <a14:m>
                  <m:oMath xmlns:m="http://schemas.openxmlformats.org/officeDocument/2006/math">
                    <m:r>
                      <a:rPr lang="en-US" altLang="zh-CN" sz="2800" i="1" dirty="0" smtClean="0">
                        <a:latin typeface="Cambria Math"/>
                      </a:rPr>
                      <m:t>0.2</m:t>
                    </m:r>
                    <m:r>
                      <a:rPr lang="zh-CN" altLang="en-US" sz="2800" i="1" dirty="0" smtClean="0">
                        <a:latin typeface="Cambria Math"/>
                      </a:rPr>
                      <m:t>～</m:t>
                    </m:r>
                    <m:r>
                      <a:rPr lang="en-US" altLang="zh-CN" sz="2800" i="1" dirty="0" smtClean="0">
                        <a:latin typeface="Cambria Math"/>
                      </a:rPr>
                      <m:t>0.5</m:t>
                    </m:r>
                    <m:r>
                      <a:rPr lang="en-US" altLang="zh-CN" sz="2800" i="1" dirty="0" smtClean="0">
                        <a:latin typeface="Cambria Math"/>
                      </a:rPr>
                      <m:t>𝑠</m:t>
                    </m:r>
                  </m:oMath>
                </a14:m>
                <a:r>
                  <a:rPr lang="zh-CN" altLang="en-US" sz="2800" dirty="0" smtClean="0">
                    <a:latin typeface="+mn-ea"/>
                  </a:rPr>
                  <a:t>；造纸机为</a:t>
                </a:r>
                <a14:m>
                  <m:oMath xmlns:m="http://schemas.openxmlformats.org/officeDocument/2006/math">
                    <m:r>
                      <a:rPr lang="en-US" altLang="zh-CN" sz="2800" i="1" dirty="0" smtClean="0">
                        <a:latin typeface="Cambria Math"/>
                      </a:rPr>
                      <m:t>0.3</m:t>
                    </m:r>
                    <m:r>
                      <a:rPr lang="en-US" altLang="zh-CN" sz="2800" i="1" dirty="0" smtClean="0">
                        <a:latin typeface="Cambria Math"/>
                      </a:rPr>
                      <m:t>𝑠</m:t>
                    </m:r>
                  </m:oMath>
                </a14:m>
                <a:r>
                  <a:rPr lang="zh-CN" altLang="en-US" sz="2800" dirty="0" smtClean="0">
                    <a:latin typeface="+mn-ea"/>
                  </a:rPr>
                  <a:t>。 　　</a:t>
                </a:r>
                <a:endParaRPr lang="en-US" altLang="zh-CN" sz="2800" dirty="0" smtClean="0">
                  <a:latin typeface="+mn-ea"/>
                </a:endParaRPr>
              </a:p>
              <a:p>
                <a:pPr marL="0" latinLnBrk="0">
                  <a:lnSpc>
                    <a:spcPct val="120000"/>
                  </a:lnSpc>
                  <a:spcBef>
                    <a:spcPts val="0"/>
                  </a:spcBef>
                  <a:buFontTx/>
                  <a:buNone/>
                  <a:defRPr/>
                </a:pPr>
                <a:r>
                  <a:rPr lang="en-US" altLang="zh-CN" sz="2800" dirty="0" smtClean="0">
                    <a:latin typeface="+mn-ea"/>
                  </a:rPr>
                  <a:t>3.</a:t>
                </a:r>
                <a:r>
                  <a:rPr lang="zh-CN" altLang="en-US" sz="2800" dirty="0" smtClean="0">
                    <a:latin typeface="+mn-ea"/>
                  </a:rPr>
                  <a:t>振荡次数</a:t>
                </a:r>
                <a:r>
                  <a:rPr lang="en-US" altLang="zh-CN" sz="2800" dirty="0" smtClean="0">
                    <a:latin typeface="+mn-ea"/>
                  </a:rPr>
                  <a:t>(</a:t>
                </a:r>
                <a14:m>
                  <m:oMath xmlns:m="http://schemas.openxmlformats.org/officeDocument/2006/math">
                    <m:r>
                      <a:rPr lang="en-US" altLang="zh-CN" sz="2800" i="1" dirty="0" smtClean="0">
                        <a:latin typeface="Cambria Math"/>
                      </a:rPr>
                      <m:t>𝑁</m:t>
                    </m:r>
                  </m:oMath>
                </a14:m>
                <a:r>
                  <a:rPr lang="en-US" altLang="zh-CN" sz="2800" dirty="0" smtClean="0">
                    <a:latin typeface="+mn-ea"/>
                  </a:rPr>
                  <a:t>)(</a:t>
                </a:r>
                <a:r>
                  <a:rPr lang="en-US" altLang="zh-CN" sz="2800" dirty="0" smtClean="0">
                    <a:latin typeface="Times New Roman" panose="02020603050405020304" pitchFamily="18" charset="0"/>
                  </a:rPr>
                  <a:t>Order Number</a:t>
                </a:r>
                <a:r>
                  <a:rPr lang="en-US" altLang="zh-CN" sz="2800" dirty="0" smtClean="0">
                    <a:latin typeface="+mn-ea"/>
                  </a:rPr>
                  <a:t>)</a:t>
                </a:r>
                <a:br>
                  <a:rPr lang="en-US" altLang="zh-CN" sz="2800" dirty="0" smtClean="0">
                    <a:latin typeface="+mn-ea"/>
                  </a:rPr>
                </a:br>
                <a:r>
                  <a:rPr lang="zh-CN" altLang="en-US" sz="2800" dirty="0" smtClean="0">
                    <a:latin typeface="+mn-ea"/>
                  </a:rPr>
                  <a:t>　　振荡次数是指在调整时间内，输出量在稳态值上下摆动的次数。</a:t>
                </a:r>
                <a:endParaRPr lang="zh-CN" altLang="en-US" sz="2800" dirty="0">
                  <a:latin typeface="+mn-ea"/>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998676"/>
                <a:ext cx="8229600" cy="4924604"/>
              </a:xfrm>
              <a:blipFill rotWithShape="1">
                <a:blip r:embed="rId2"/>
                <a:stretch>
                  <a:fillRect l="-1481" t="-86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1"/>
          </p:nvPr>
        </p:nvSpPr>
        <p:spPr>
          <a:xfrm>
            <a:off x="457200" y="908664"/>
            <a:ext cx="8229600" cy="5217499"/>
          </a:xfrm>
        </p:spPr>
        <p:txBody>
          <a:bodyPr/>
          <a:lstStyle/>
          <a:p>
            <a:pPr marL="0" latinLnBrk="0">
              <a:lnSpc>
                <a:spcPct val="120000"/>
              </a:lnSpc>
              <a:spcBef>
                <a:spcPts val="0"/>
              </a:spcBef>
              <a:buFontTx/>
              <a:buNone/>
            </a:pPr>
            <a:r>
              <a:rPr lang="zh-CN" altLang="en-US" sz="2800" dirty="0" smtClean="0"/>
              <a:t>        在上述指标中，最大超调量和振荡次数反映了系统的稳定性能。调整时间反映了系统的快速性。稳态误差反映了系统的准确度。一般说来，我们总是希望最大超调量小一点，振荡次数少一点，调整时间短一些，稳态误差小一点。总之，希望系统能达到稳、快、准。</a:t>
            </a:r>
            <a:br>
              <a:rPr lang="zh-CN" altLang="en-US" sz="2800" dirty="0" smtClean="0"/>
            </a:br>
            <a:r>
              <a:rPr lang="zh-CN" altLang="en-US" sz="2800" dirty="0" smtClean="0"/>
              <a:t>　　以后的分析将表明，这些指标要求，在同一个系统中往往是相互矛盾的。这就需要根据具体对象所提出的要求，对其中的某些指标有所侧重，同时又要注意统筹兼顾。</a:t>
            </a:r>
            <a:br>
              <a:rPr lang="zh-CN" altLang="en-US" sz="2800" dirty="0" smtClean="0"/>
            </a:br>
            <a:endParaRPr lang="zh-CN" altLang="en-US" sz="2800"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457200" y="364173"/>
            <a:ext cx="8229600" cy="1143000"/>
          </a:xfrm>
        </p:spPr>
        <p:txBody>
          <a:bodyPr/>
          <a:lstStyle/>
          <a:p>
            <a:r>
              <a:rPr lang="zh-CN" altLang="en-US" sz="3600" smtClean="0"/>
              <a:t>第六节  研究自动控制系统的方法</a:t>
            </a:r>
          </a:p>
        </p:txBody>
      </p:sp>
      <p:sp>
        <p:nvSpPr>
          <p:cNvPr id="54275" name="内容占位符 2"/>
          <p:cNvSpPr>
            <a:spLocks noGrp="1"/>
          </p:cNvSpPr>
          <p:nvPr>
            <p:ph idx="1"/>
          </p:nvPr>
        </p:nvSpPr>
        <p:spPr/>
        <p:txBody>
          <a:bodyPr/>
          <a:lstStyle/>
          <a:p>
            <a:pPr marL="0" indent="358775" latinLnBrk="0">
              <a:lnSpc>
                <a:spcPct val="120000"/>
              </a:lnSpc>
              <a:spcBef>
                <a:spcPts val="0"/>
              </a:spcBef>
              <a:buFontTx/>
              <a:buNone/>
            </a:pPr>
            <a:r>
              <a:rPr lang="zh-CN" altLang="en-US" smtClean="0"/>
              <a:t>   </a:t>
            </a:r>
            <a:r>
              <a:rPr lang="zh-CN" altLang="en-US" sz="2800" smtClean="0"/>
              <a:t>对自动控制系统进行分析研究，首先是对系统进行定性分析。定性分析，主要是搞清各个单元及各个元件在系统中的地位和作用，以及它们之间的相互联系，并在此基础上搞清系统的工作原理。然后，在定性分析的基础上，可以建立系统的数学模型；再应用自动控制理论对系统的稳定性、稳态性能和动态性能进行定量分析。在系统分析的基础上就可以找到改善系统性能，提高系统技术指标的有效途径，这也就是系统的校正和设计。</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内容占位符 2"/>
          <p:cNvSpPr>
            <a:spLocks noGrp="1"/>
          </p:cNvSpPr>
          <p:nvPr>
            <p:ph idx="1"/>
          </p:nvPr>
        </p:nvSpPr>
        <p:spPr>
          <a:xfrm>
            <a:off x="457200" y="998676"/>
            <a:ext cx="8229600" cy="5127487"/>
          </a:xfrm>
        </p:spPr>
        <p:txBody>
          <a:bodyPr lIns="90000"/>
          <a:lstStyle/>
          <a:p>
            <a:pPr marL="0" latinLnBrk="0">
              <a:lnSpc>
                <a:spcPct val="120000"/>
              </a:lnSpc>
              <a:spcBef>
                <a:spcPts val="0"/>
              </a:spcBef>
              <a:buFontTx/>
              <a:buNone/>
            </a:pPr>
            <a:r>
              <a:rPr lang="zh-CN" altLang="en-US" sz="2800" dirty="0" smtClean="0"/>
              <a:t>          自动控制理论又分为经典控制理论</a:t>
            </a:r>
            <a:r>
              <a:rPr lang="en-US" altLang="zh-CN" sz="2800" dirty="0" smtClean="0"/>
              <a:t>(</a:t>
            </a:r>
            <a:r>
              <a:rPr lang="en-US" altLang="zh-CN" sz="2800" dirty="0" smtClean="0">
                <a:latin typeface="Times New Roman" panose="02020603050405020304" pitchFamily="18" charset="0"/>
              </a:rPr>
              <a:t>Classical Control Theory</a:t>
            </a:r>
            <a:r>
              <a:rPr lang="en-US" altLang="zh-CN" sz="2800" dirty="0" smtClean="0"/>
              <a:t>)</a:t>
            </a:r>
            <a:r>
              <a:rPr lang="zh-CN" altLang="en-US" sz="2800" dirty="0" smtClean="0"/>
              <a:t>和现代控制理论</a:t>
            </a:r>
            <a:r>
              <a:rPr lang="en-US" altLang="zh-CN" sz="2800" dirty="0" smtClean="0"/>
              <a:t>(</a:t>
            </a:r>
            <a:r>
              <a:rPr lang="en-US" altLang="zh-CN" sz="2800" dirty="0" smtClean="0">
                <a:latin typeface="Times New Roman" panose="02020603050405020304" pitchFamily="18" charset="0"/>
              </a:rPr>
              <a:t>Modern Control Theory</a:t>
            </a:r>
            <a:r>
              <a:rPr lang="en-US" altLang="zh-CN" sz="2800" dirty="0" smtClean="0"/>
              <a:t>)</a:t>
            </a:r>
            <a:r>
              <a:rPr lang="zh-CN" altLang="en-US" sz="2800" dirty="0" smtClean="0"/>
              <a:t>。经典控制理论是建立在传递函数</a:t>
            </a:r>
            <a:r>
              <a:rPr lang="en-US" altLang="zh-CN" sz="2800" dirty="0" smtClean="0"/>
              <a:t>(</a:t>
            </a:r>
            <a:r>
              <a:rPr lang="en-US" altLang="zh-CN" sz="2800" dirty="0" smtClean="0">
                <a:latin typeface="Times New Roman" panose="02020603050405020304" pitchFamily="18" charset="0"/>
              </a:rPr>
              <a:t>Transfer Function</a:t>
            </a:r>
            <a:r>
              <a:rPr lang="en-US" altLang="zh-CN" sz="2800" dirty="0" smtClean="0"/>
              <a:t>)</a:t>
            </a:r>
            <a:r>
              <a:rPr lang="zh-CN" altLang="en-US" sz="2800" dirty="0" smtClean="0"/>
              <a:t>概念基础之上的，它对单输入</a:t>
            </a:r>
            <a:r>
              <a:rPr lang="en-US" altLang="zh-CN" sz="2800" dirty="0" smtClean="0"/>
              <a:t>—</a:t>
            </a:r>
            <a:r>
              <a:rPr lang="zh-CN" altLang="en-US" sz="2800" dirty="0" smtClean="0"/>
              <a:t>单输出系统是十分有效的。现代控制理论是建立在状态变量</a:t>
            </a:r>
            <a:r>
              <a:rPr lang="en-US" altLang="zh-CN" sz="2800" dirty="0" smtClean="0"/>
              <a:t>(</a:t>
            </a:r>
            <a:r>
              <a:rPr lang="en-US" altLang="zh-CN" sz="2800" dirty="0" smtClean="0">
                <a:latin typeface="Times New Roman" panose="02020603050405020304" pitchFamily="18" charset="0"/>
              </a:rPr>
              <a:t>State Variable</a:t>
            </a:r>
            <a:r>
              <a:rPr lang="en-US" altLang="zh-CN" sz="2800" dirty="0" smtClean="0"/>
              <a:t>)</a:t>
            </a:r>
            <a:r>
              <a:rPr lang="zh-CN" altLang="en-US" sz="2800" dirty="0" smtClean="0"/>
              <a:t>概念基础之上的，它适用于复杂的多输入</a:t>
            </a:r>
            <a:r>
              <a:rPr lang="en-US" altLang="zh-CN" sz="2800" dirty="0" smtClean="0"/>
              <a:t>—</a:t>
            </a:r>
            <a:r>
              <a:rPr lang="zh-CN" altLang="en-US" sz="2800" dirty="0" smtClean="0"/>
              <a:t>多输出控制系统及变参数非线性系统，实现自适应控制</a:t>
            </a:r>
            <a:r>
              <a:rPr lang="en-US" altLang="zh-CN" sz="2800" dirty="0" smtClean="0"/>
              <a:t>(</a:t>
            </a:r>
            <a:r>
              <a:rPr lang="en-US" altLang="zh-CN" sz="2800" dirty="0" smtClean="0">
                <a:latin typeface="Times New Roman" panose="02020603050405020304" pitchFamily="18" charset="0"/>
              </a:rPr>
              <a:t>Adaptive Control</a:t>
            </a:r>
            <a:r>
              <a:rPr lang="en-US" altLang="zh-CN" sz="2800" dirty="0" smtClean="0"/>
              <a:t>)</a:t>
            </a:r>
            <a:r>
              <a:rPr lang="zh-CN" altLang="en-US" sz="2800" dirty="0" smtClean="0"/>
              <a:t>、最佳控制</a:t>
            </a:r>
            <a:r>
              <a:rPr lang="en-US" altLang="zh-CN" sz="2800" dirty="0" smtClean="0"/>
              <a:t>(</a:t>
            </a:r>
            <a:r>
              <a:rPr lang="en-US" altLang="zh-CN" sz="2800" dirty="0" smtClean="0">
                <a:latin typeface="Times New Roman" panose="02020603050405020304" pitchFamily="18" charset="0"/>
              </a:rPr>
              <a:t>Optimal Control</a:t>
            </a:r>
            <a:r>
              <a:rPr lang="en-US" altLang="zh-CN" sz="2800" dirty="0" smtClean="0"/>
              <a:t>)</a:t>
            </a:r>
            <a:r>
              <a:rPr lang="zh-CN" altLang="en-US" sz="2800" dirty="0" smtClean="0"/>
              <a:t>等。</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457200" y="458604"/>
            <a:ext cx="8229600" cy="5846629"/>
          </a:xfrm>
        </p:spPr>
        <p:txBody>
          <a:bodyPr/>
          <a:lstStyle/>
          <a:p>
            <a:pPr marL="0" indent="0">
              <a:lnSpc>
                <a:spcPct val="120000"/>
              </a:lnSpc>
              <a:buNone/>
            </a:pPr>
            <a:r>
              <a:rPr lang="zh-CN" altLang="en-US" sz="2800" dirty="0" smtClean="0"/>
              <a:t>        在经典控制理论中，又有时域分析法，</a:t>
            </a:r>
            <a:r>
              <a:rPr lang="en-US" altLang="zh-CN" sz="2800" dirty="0" smtClean="0"/>
              <a:t>(</a:t>
            </a:r>
            <a:r>
              <a:rPr lang="en-US" altLang="zh-CN" sz="2800" dirty="0" smtClean="0">
                <a:latin typeface="Times New Roman" panose="02020603050405020304" pitchFamily="18" charset="0"/>
              </a:rPr>
              <a:t>Time-Domain Analysis Method</a:t>
            </a:r>
            <a:r>
              <a:rPr lang="en-US" altLang="zh-CN" sz="2800" dirty="0" smtClean="0"/>
              <a:t>)</a:t>
            </a:r>
            <a:r>
              <a:rPr lang="zh-CN" altLang="en-US" sz="2800" dirty="0" smtClean="0"/>
              <a:t>、频率响应法</a:t>
            </a:r>
            <a:r>
              <a:rPr lang="en-US" altLang="zh-CN" sz="2800" dirty="0" smtClean="0"/>
              <a:t>(</a:t>
            </a:r>
            <a:r>
              <a:rPr lang="en-US" altLang="zh-CN" sz="2800" dirty="0" smtClean="0">
                <a:latin typeface="Times New Roman" panose="02020603050405020304" pitchFamily="18" charset="0"/>
              </a:rPr>
              <a:t>Frequency Response Method</a:t>
            </a:r>
            <a:r>
              <a:rPr lang="en-US" altLang="zh-CN" sz="2800" dirty="0" smtClean="0"/>
              <a:t>)</a:t>
            </a:r>
            <a:r>
              <a:rPr lang="zh-CN" altLang="en-US" sz="2800" dirty="0" smtClean="0"/>
              <a:t>和根轨迹法</a:t>
            </a:r>
            <a:r>
              <a:rPr lang="en-US" altLang="zh-CN" sz="2800" dirty="0" smtClean="0"/>
              <a:t>(</a:t>
            </a:r>
            <a:r>
              <a:rPr lang="en-US" altLang="zh-CN" sz="2800" dirty="0" smtClean="0">
                <a:latin typeface="Times New Roman" panose="02020603050405020304" pitchFamily="18" charset="0"/>
              </a:rPr>
              <a:t>The Root Locus Method</a:t>
            </a:r>
            <a:r>
              <a:rPr lang="en-US" altLang="zh-CN" sz="2800" dirty="0" smtClean="0"/>
              <a:t>)</a:t>
            </a:r>
            <a:r>
              <a:rPr lang="zh-CN" altLang="en-US" sz="2800" dirty="0" smtClean="0"/>
              <a:t>等几种分析方法。</a:t>
            </a:r>
            <a:endParaRPr lang="en-US" altLang="zh-CN" sz="2800" dirty="0" smtClean="0"/>
          </a:p>
          <a:p>
            <a:pPr marL="0" indent="0">
              <a:lnSpc>
                <a:spcPct val="120000"/>
              </a:lnSpc>
              <a:buNone/>
            </a:pPr>
            <a:r>
              <a:rPr lang="zh-CN" altLang="en-US" sz="2800" dirty="0" smtClean="0"/>
              <a:t>        经典控制理论</a:t>
            </a:r>
            <a:r>
              <a:rPr lang="en-US" altLang="zh-CN" sz="2800" dirty="0" smtClean="0"/>
              <a:t>(</a:t>
            </a:r>
            <a:r>
              <a:rPr lang="en-US" altLang="zh-CN" sz="2800" dirty="0" smtClean="0">
                <a:latin typeface="Times New Roman" panose="02020603050405020304" pitchFamily="18" charset="0"/>
              </a:rPr>
              <a:t>Classical Control Theory</a:t>
            </a:r>
            <a:r>
              <a:rPr lang="en-US" altLang="zh-CN" sz="2800" dirty="0" smtClean="0"/>
              <a:t>)</a:t>
            </a:r>
            <a:r>
              <a:rPr lang="zh-CN" altLang="en-US" sz="2800" dirty="0" smtClean="0"/>
              <a:t>：</a:t>
            </a:r>
            <a:r>
              <a:rPr lang="en-US" altLang="zh-CN" sz="2800" dirty="0" smtClean="0"/>
              <a:t/>
            </a:r>
            <a:br>
              <a:rPr lang="en-US" altLang="zh-CN" sz="2800" dirty="0" smtClean="0"/>
            </a:br>
            <a:r>
              <a:rPr lang="en-US" altLang="zh-CN" sz="2800" dirty="0" smtClean="0"/>
              <a:t>    </a:t>
            </a:r>
            <a:r>
              <a:rPr lang="zh-CN" altLang="en-US" sz="2800" dirty="0" smtClean="0"/>
              <a:t>①时域分析法，</a:t>
            </a:r>
            <a:r>
              <a:rPr lang="en-US" altLang="zh-CN" sz="2800" dirty="0" smtClean="0"/>
              <a:t>(</a:t>
            </a:r>
            <a:r>
              <a:rPr lang="en-US" altLang="zh-CN" sz="2800" dirty="0" smtClean="0">
                <a:latin typeface="Times New Roman" panose="02020603050405020304" pitchFamily="18" charset="0"/>
              </a:rPr>
              <a:t>Time Domain Analysis Method</a:t>
            </a:r>
            <a:r>
              <a:rPr lang="en-US" altLang="zh-CN" sz="2800" dirty="0" smtClean="0"/>
              <a:t>)</a:t>
            </a:r>
            <a:br>
              <a:rPr lang="en-US" altLang="zh-CN" sz="2800" dirty="0" smtClean="0"/>
            </a:br>
            <a:r>
              <a:rPr lang="en-US" altLang="zh-CN" sz="2800" dirty="0" smtClean="0"/>
              <a:t>    </a:t>
            </a:r>
            <a:r>
              <a:rPr lang="zh-CN" altLang="en-US" sz="2800" dirty="0" smtClean="0"/>
              <a:t>②频率响应法</a:t>
            </a:r>
            <a:r>
              <a:rPr lang="en-US" altLang="zh-CN" sz="2800" dirty="0" smtClean="0"/>
              <a:t>(</a:t>
            </a:r>
            <a:r>
              <a:rPr lang="en-US" altLang="zh-CN" sz="2800" dirty="0" smtClean="0">
                <a:latin typeface="Times New Roman" panose="02020603050405020304" pitchFamily="18" charset="0"/>
              </a:rPr>
              <a:t>Frequency Response Method</a:t>
            </a:r>
            <a:r>
              <a:rPr lang="en-US" altLang="zh-CN" sz="2800" dirty="0" smtClean="0"/>
              <a:t>)</a:t>
            </a:r>
            <a:br>
              <a:rPr lang="en-US" altLang="zh-CN" sz="2800" dirty="0" smtClean="0"/>
            </a:br>
            <a:r>
              <a:rPr lang="en-US" altLang="zh-CN" sz="2800" dirty="0" smtClean="0"/>
              <a:t>    </a:t>
            </a:r>
            <a:r>
              <a:rPr lang="zh-CN" altLang="en-US" sz="2800" dirty="0" smtClean="0"/>
              <a:t>③根轨迹法</a:t>
            </a:r>
            <a:r>
              <a:rPr lang="en-US" altLang="zh-CN" sz="2800" dirty="0" smtClean="0"/>
              <a:t>(</a:t>
            </a:r>
            <a:r>
              <a:rPr lang="en-US" altLang="zh-CN" sz="2800" dirty="0" smtClean="0">
                <a:latin typeface="Times New Roman" panose="02020603050405020304" pitchFamily="18" charset="0"/>
              </a:rPr>
              <a:t>The Root Locus Method</a:t>
            </a:r>
            <a:r>
              <a:rPr lang="en-US" altLang="zh-CN" sz="2800" dirty="0" smtClean="0"/>
              <a:t>)</a:t>
            </a:r>
            <a:br>
              <a:rPr lang="en-US" altLang="zh-CN" sz="2800" dirty="0" smtClean="0"/>
            </a:br>
            <a:r>
              <a:rPr lang="zh-CN" altLang="en-US" sz="2800" dirty="0" smtClean="0"/>
              <a:t>　　现代控制理论</a:t>
            </a:r>
            <a:r>
              <a:rPr lang="en-US" altLang="zh-CN" sz="2800" dirty="0" smtClean="0"/>
              <a:t>(</a:t>
            </a:r>
            <a:r>
              <a:rPr lang="en-US" altLang="zh-CN" sz="2800" dirty="0" smtClean="0">
                <a:latin typeface="Times New Roman" panose="02020603050405020304" pitchFamily="18" charset="0"/>
              </a:rPr>
              <a:t>Modern Control Theory</a:t>
            </a:r>
            <a:r>
              <a:rPr lang="en-US" altLang="zh-CN" sz="2800" dirty="0" smtClean="0"/>
              <a:t>)</a:t>
            </a:r>
            <a:br>
              <a:rPr lang="en-US" altLang="zh-CN" sz="2800" dirty="0" smtClean="0"/>
            </a:br>
            <a:r>
              <a:rPr lang="zh-CN" altLang="en-US" sz="2800" dirty="0" smtClean="0"/>
              <a:t>　　由于这几种方法是各有所长，所以长期来是并行采用的。通过实验或根据现场实践进行研究，也是一条基本的途径。</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4"/>
          <p:cNvSpPr>
            <a:spLocks noGrp="1"/>
          </p:cNvSpPr>
          <p:nvPr>
            <p:ph type="title"/>
          </p:nvPr>
        </p:nvSpPr>
        <p:spPr>
          <a:xfrm>
            <a:off x="431448" y="458604"/>
            <a:ext cx="8229600" cy="1143000"/>
          </a:xfrm>
        </p:spPr>
        <p:txBody>
          <a:bodyPr/>
          <a:lstStyle/>
          <a:p>
            <a:r>
              <a:rPr lang="zh-CN" altLang="en-US" sz="3600" dirty="0" smtClean="0"/>
              <a:t>本  章  小  结</a:t>
            </a:r>
          </a:p>
        </p:txBody>
      </p:sp>
      <p:sp>
        <p:nvSpPr>
          <p:cNvPr id="6" name="内容占位符 5"/>
          <p:cNvSpPr>
            <a:spLocks noGrp="1"/>
          </p:cNvSpPr>
          <p:nvPr>
            <p:ph idx="1"/>
          </p:nvPr>
        </p:nvSpPr>
        <p:spPr/>
        <p:txBody>
          <a:bodyPr/>
          <a:lstStyle/>
          <a:p>
            <a:pPr marL="0" indent="0" latinLnBrk="0">
              <a:lnSpc>
                <a:spcPct val="120000"/>
              </a:lnSpc>
              <a:spcBef>
                <a:spcPts val="0"/>
              </a:spcBef>
              <a:buNone/>
              <a:defRPr/>
            </a:pPr>
            <a:r>
              <a:rPr lang="en-US" altLang="zh-CN" sz="2800" dirty="0" smtClean="0">
                <a:latin typeface="+mn-ea"/>
              </a:rPr>
              <a:t>    1</a:t>
            </a:r>
            <a:r>
              <a:rPr lang="zh-CN" altLang="en-US" sz="2800" dirty="0" smtClean="0">
                <a:latin typeface="+mn-ea"/>
              </a:rPr>
              <a:t>、开环控制系统结构简单、稳定性好，但不能自动补偿扰动对输出量的影响。当系统扰动量产生偏差可以预先进行补偿或影响不大时，采用开环控制是有利的。当扰动量无法预计或控制系统的精度达不到预期要求时，则应采用闭环控制。</a:t>
            </a:r>
            <a:endParaRPr lang="en-US" altLang="zh-CN" sz="2800" dirty="0" smtClean="0">
              <a:latin typeface="+mn-ea"/>
            </a:endParaRPr>
          </a:p>
          <a:p>
            <a:pPr marL="0" indent="0" latinLnBrk="0">
              <a:lnSpc>
                <a:spcPct val="120000"/>
              </a:lnSpc>
              <a:spcBef>
                <a:spcPts val="0"/>
              </a:spcBef>
              <a:buNone/>
              <a:defRPr/>
            </a:pPr>
            <a:r>
              <a:rPr lang="en-US" altLang="zh-CN" sz="2800" dirty="0" smtClean="0">
                <a:latin typeface="+mn-ea"/>
              </a:rPr>
              <a:t>    2</a:t>
            </a:r>
            <a:r>
              <a:rPr lang="zh-CN" altLang="en-US" sz="2800" dirty="0" smtClean="0">
                <a:latin typeface="+mn-ea"/>
              </a:rPr>
              <a:t>、闭环控制系统具有反馈环节，它能依靠负反馈环节进行自动调节，以补偿扰动对系统产生的影响。闭环控制极大地提高了系统的精度。但闭环控制系统使系统稳定性变差，需要重视并加以解决。</a:t>
            </a:r>
          </a:p>
          <a:p>
            <a:pPr>
              <a:defRPr/>
            </a:pP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998676"/>
            <a:ext cx="8229600" cy="4769347"/>
          </a:xfrm>
        </p:spPr>
        <p:txBody>
          <a:bodyPr/>
          <a:lstStyle/>
          <a:p>
            <a:pPr marL="0" indent="0" latinLnBrk="0">
              <a:lnSpc>
                <a:spcPct val="120000"/>
              </a:lnSpc>
              <a:spcBef>
                <a:spcPts val="0"/>
              </a:spcBef>
              <a:buNone/>
              <a:defRPr/>
            </a:pPr>
            <a:r>
              <a:rPr lang="en-US" altLang="zh-CN" sz="2800" dirty="0" smtClean="0">
                <a:latin typeface="+mn-ea"/>
              </a:rPr>
              <a:t>    3</a:t>
            </a:r>
            <a:r>
              <a:rPr lang="zh-CN" altLang="en-US" sz="2800" dirty="0" smtClean="0">
                <a:latin typeface="+mn-ea"/>
              </a:rPr>
              <a:t>、自动控制系统通常由给定元件、检测元件、比较环节、放大环节、执行元件、控制对象和反馈环节等组成。系统的作用量和被控量有：输入量、反馈量、扰动量、输出量和各中间变量。</a:t>
            </a:r>
            <a:endParaRPr lang="en-US" altLang="zh-CN" sz="2800" dirty="0" smtClean="0">
              <a:latin typeface="+mn-ea"/>
            </a:endParaRPr>
          </a:p>
          <a:p>
            <a:pPr marL="0" indent="0" latinLnBrk="0">
              <a:lnSpc>
                <a:spcPct val="120000"/>
              </a:lnSpc>
              <a:spcBef>
                <a:spcPts val="0"/>
              </a:spcBef>
              <a:buNone/>
              <a:defRPr/>
            </a:pPr>
            <a:r>
              <a:rPr lang="en-US" altLang="zh-CN" sz="2800" dirty="0">
                <a:latin typeface="+mn-ea"/>
              </a:rPr>
              <a:t> </a:t>
            </a:r>
            <a:r>
              <a:rPr lang="en-US" altLang="zh-CN" sz="2800" dirty="0" smtClean="0">
                <a:latin typeface="+mn-ea"/>
              </a:rPr>
              <a:t>   </a:t>
            </a:r>
            <a:r>
              <a:rPr lang="zh-CN" altLang="en-US" sz="2800" dirty="0" smtClean="0">
                <a:latin typeface="+mn-ea"/>
              </a:rPr>
              <a:t>框图可直观地表达系统各环节（或各部件）间的因果关系，可以表达各种作用量和中间变量的作用点和传递情况以及它们对输出量的影响。</a:t>
            </a:r>
            <a:endParaRPr lang="en-US" altLang="zh-CN" sz="2800" dirty="0" smtClean="0">
              <a:latin typeface="+mn-ea"/>
            </a:endParaRPr>
          </a:p>
          <a:p>
            <a:pPr marL="0" indent="0" latinLnBrk="0">
              <a:lnSpc>
                <a:spcPct val="120000"/>
              </a:lnSpc>
              <a:spcBef>
                <a:spcPts val="0"/>
              </a:spcBef>
              <a:buNone/>
              <a:defRPr/>
            </a:pPr>
            <a:r>
              <a:rPr lang="en-US" altLang="zh-CN" sz="2800" dirty="0">
                <a:latin typeface="+mn-ea"/>
              </a:rPr>
              <a:t> </a:t>
            </a:r>
            <a:r>
              <a:rPr lang="en-US" altLang="zh-CN" sz="2800" dirty="0" smtClean="0">
                <a:latin typeface="+mn-ea"/>
              </a:rPr>
              <a:t>   4</a:t>
            </a:r>
            <a:r>
              <a:rPr lang="zh-CN" altLang="en-US" sz="2800" dirty="0" smtClean="0">
                <a:latin typeface="+mn-ea"/>
              </a:rPr>
              <a:t>、恒值控制系统的特点是：输入量是恒量，并且要求系统的输出量也是相应地保持恒定。</a:t>
            </a:r>
          </a:p>
          <a:p>
            <a:pPr>
              <a:defRPr/>
            </a:pPr>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457200" hangingPunct="1">
                  <a:lnSpc>
                    <a:spcPct val="120000"/>
                  </a:lnSpc>
                  <a:spcBef>
                    <a:spcPts val="0"/>
                  </a:spcBef>
                  <a:buNone/>
                </a:pPr>
                <a:r>
                  <a:rPr lang="en-US" altLang="zh-CN" sz="2800" dirty="0" smtClean="0"/>
                  <a:t>   </a:t>
                </a:r>
                <a:r>
                  <a:rPr lang="zh-CN" altLang="en-US" sz="2800" dirty="0"/>
                  <a:t>随动系统的特点是：输入量是变化的，并且要求系统的输出量能跟随输入量的变化而相应的变化。</a:t>
                </a:r>
              </a:p>
              <a:p>
                <a:pPr marL="0" indent="457200" hangingPunct="1">
                  <a:lnSpc>
                    <a:spcPct val="120000"/>
                  </a:lnSpc>
                  <a:spcBef>
                    <a:spcPts val="0"/>
                  </a:spcBef>
                  <a:buNone/>
                </a:pPr>
                <a:r>
                  <a:rPr lang="en-US" altLang="zh-CN" sz="2800" dirty="0"/>
                  <a:t>   5</a:t>
                </a:r>
                <a:r>
                  <a:rPr lang="zh-CN" altLang="en-US" sz="2800" dirty="0"/>
                  <a:t>、对自动控制系统的性能指标的要求主要是一稳、二准、三快。最大超调量（</a:t>
                </a:r>
                <a14:m>
                  <m:oMath xmlns:m="http://schemas.openxmlformats.org/officeDocument/2006/math">
                    <m:r>
                      <a:rPr lang="zh-CN" altLang="en-US" sz="2800" i="1" dirty="0" smtClean="0">
                        <a:latin typeface="Cambria Math"/>
                      </a:rPr>
                      <m:t>𝛿</m:t>
                    </m:r>
                  </m:oMath>
                </a14:m>
                <a:r>
                  <a:rPr lang="zh-CN" altLang="en-US" sz="2800" dirty="0"/>
                  <a:t>）和振荡次数（</a:t>
                </a:r>
                <a14:m>
                  <m:oMath xmlns:m="http://schemas.openxmlformats.org/officeDocument/2006/math">
                    <m:r>
                      <a:rPr lang="en-US" altLang="zh-CN" sz="2800" i="1" dirty="0" smtClean="0">
                        <a:latin typeface="Cambria Math"/>
                      </a:rPr>
                      <m:t>𝑁</m:t>
                    </m:r>
                  </m:oMath>
                </a14:m>
                <a:r>
                  <a:rPr lang="zh-CN" altLang="en-US" sz="2800" dirty="0"/>
                  <a:t>）反映了系统的稳定性，稳态误差</a:t>
                </a:r>
                <a:r>
                  <a:rPr lang="zh-CN" altLang="en-US" sz="2800" dirty="0" smtClean="0"/>
                  <a:t>（</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𝑒</m:t>
                        </m:r>
                      </m:e>
                      <m:sub>
                        <m:r>
                          <m:rPr>
                            <m:sty m:val="p"/>
                          </m:rPr>
                          <a:rPr lang="en-US" altLang="zh-CN" sz="2800" i="1">
                            <a:latin typeface="Cambria Math"/>
                          </a:rPr>
                          <m:t>ss</m:t>
                        </m:r>
                      </m:sub>
                    </m:sSub>
                  </m:oMath>
                </a14:m>
                <a:r>
                  <a:rPr lang="zh-CN" altLang="en-US" sz="2800" dirty="0" smtClean="0"/>
                  <a:t>）</a:t>
                </a:r>
                <a:r>
                  <a:rPr lang="zh-CN" altLang="en-US" sz="2800" dirty="0"/>
                  <a:t>反映了系统的准确性，调整时间</a:t>
                </a:r>
                <a:r>
                  <a:rPr lang="zh-CN" altLang="en-US" sz="2800" dirty="0" smtClean="0"/>
                  <a:t>（</a:t>
                </a:r>
                <a14:m>
                  <m:oMath xmlns:m="http://schemas.openxmlformats.org/officeDocument/2006/math">
                    <m:sSub>
                      <m:sSubPr>
                        <m:ctrlPr>
                          <a:rPr lang="en-US" altLang="zh-CN" sz="2800" i="1">
                            <a:latin typeface="Cambria Math"/>
                          </a:rPr>
                        </m:ctrlPr>
                      </m:sSubPr>
                      <m:e>
                        <m:r>
                          <a:rPr lang="en-US" altLang="zh-CN" sz="2800" i="1">
                            <a:latin typeface="Cambria Math"/>
                          </a:rPr>
                          <m:t>𝑡</m:t>
                        </m:r>
                      </m:e>
                      <m:sub>
                        <m:r>
                          <a:rPr lang="en-US" altLang="zh-CN" sz="2800" i="1">
                            <a:latin typeface="Cambria Math"/>
                          </a:rPr>
                          <m:t>𝑠</m:t>
                        </m:r>
                      </m:sub>
                    </m:sSub>
                  </m:oMath>
                </a14:m>
                <a:r>
                  <a:rPr lang="zh-CN" altLang="en-US" sz="2800" dirty="0" smtClean="0"/>
                  <a:t>）</a:t>
                </a:r>
                <a:r>
                  <a:rPr lang="zh-CN" altLang="en-US" sz="2800" dirty="0"/>
                  <a:t>反映了系统的快速性。</a:t>
                </a:r>
              </a:p>
              <a:p>
                <a:pPr marL="0" indent="457200" hangingPunct="1">
                  <a:lnSpc>
                    <a:spcPct val="120000"/>
                  </a:lnSpc>
                  <a:spcBef>
                    <a:spcPts val="0"/>
                  </a:spcBef>
                  <a:buNone/>
                </a:pPr>
                <a:r>
                  <a:rPr lang="zh-CN" altLang="en-US" sz="2800" dirty="0"/>
                  <a:t>  其中，</a:t>
                </a:r>
                <a:r>
                  <a:rPr lang="zh-CN" altLang="en-US" sz="2800" dirty="0">
                    <a:latin typeface="Times New Roman" panose="02020603050405020304" pitchFamily="18" charset="0"/>
                    <a:sym typeface="+mn-ea"/>
                  </a:rPr>
                  <a:t>δ</a:t>
                </a:r>
                <a:r>
                  <a:rPr lang="zh-CN" altLang="en-US" sz="2800" dirty="0"/>
                  <a:t>、</a:t>
                </a:r>
                <a:r>
                  <a:rPr lang="en-US" altLang="zh-CN" sz="2800" dirty="0">
                    <a:latin typeface="Times New Roman" panose="02020603050405020304" pitchFamily="18" charset="0"/>
                    <a:sym typeface="+mn-ea"/>
                  </a:rPr>
                  <a:t>N</a:t>
                </a:r>
                <a:r>
                  <a:rPr lang="zh-CN" altLang="en-US" sz="2800" dirty="0"/>
                  <a:t>、</a:t>
                </a:r>
                <a:r>
                  <a:rPr lang="en-US" altLang="zh-CN" sz="2800" dirty="0"/>
                  <a:t> </a:t>
                </a:r>
                <a14:m>
                  <m:oMath xmlns:m="http://schemas.openxmlformats.org/officeDocument/2006/math">
                    <m:sSub>
                      <m:sSubPr>
                        <m:ctrlPr>
                          <a:rPr lang="en-US" altLang="zh-CN" sz="2800" i="1">
                            <a:latin typeface="Cambria Math"/>
                          </a:rPr>
                        </m:ctrlPr>
                      </m:sSubPr>
                      <m:e>
                        <m:r>
                          <a:rPr lang="en-US" altLang="zh-CN" sz="2800" i="1">
                            <a:latin typeface="Cambria Math"/>
                          </a:rPr>
                          <m:t>𝑡</m:t>
                        </m:r>
                      </m:e>
                      <m:sub>
                        <m:r>
                          <a:rPr lang="en-US" altLang="zh-CN" sz="2800" i="1">
                            <a:latin typeface="Cambria Math"/>
                          </a:rPr>
                          <m:t>𝑠</m:t>
                        </m:r>
                      </m:sub>
                    </m:sSub>
                  </m:oMath>
                </a14:m>
                <a:r>
                  <a:rPr lang="zh-CN" altLang="en-US" sz="2800" dirty="0"/>
                  <a:t>为系统的动态指标</a:t>
                </a:r>
                <a:r>
                  <a:rPr lang="zh-CN" altLang="en-US" sz="2800" dirty="0" smtClean="0"/>
                  <a:t>，</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𝑒</m:t>
                        </m:r>
                      </m:e>
                      <m:sub>
                        <m:r>
                          <m:rPr>
                            <m:sty m:val="p"/>
                          </m:rPr>
                          <a:rPr lang="en-US" altLang="zh-CN" sz="2800" i="1">
                            <a:latin typeface="Cambria Math"/>
                          </a:rPr>
                          <m:t>ss</m:t>
                        </m:r>
                      </m:sub>
                    </m:sSub>
                  </m:oMath>
                </a14:m>
                <a:r>
                  <a:rPr lang="zh-CN" altLang="en-US" sz="2800" dirty="0" smtClean="0"/>
                  <a:t>为</a:t>
                </a:r>
                <a:r>
                  <a:rPr lang="zh-CN" altLang="en-US" sz="2800" dirty="0"/>
                  <a:t>系统的稳态指标。</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481" t="-943" r="-3111" b="-6065"/>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latinLnBrk="0">
              <a:lnSpc>
                <a:spcPct val="120000"/>
              </a:lnSpc>
              <a:spcBef>
                <a:spcPts val="0"/>
              </a:spcBef>
              <a:buNone/>
              <a:defRPr/>
            </a:pPr>
            <a:r>
              <a:rPr lang="en-US" altLang="zh-CN" sz="2800" dirty="0" smtClean="0">
                <a:latin typeface="+mn-ea"/>
              </a:rPr>
              <a:t>  6</a:t>
            </a:r>
            <a:r>
              <a:rPr lang="zh-CN" altLang="en-US" sz="2800" dirty="0" smtClean="0">
                <a:latin typeface="+mn-ea"/>
              </a:rPr>
              <a:t>、自动控制系统的研究方法，包括理论分析和实践探索。在经典控制理论中，有时域分析法 、频域响应法和跟轨迹法等几种分析方法。</a:t>
            </a:r>
            <a:r>
              <a:rPr lang="en-US" altLang="zh-CN" sz="2800" dirty="0" smtClean="0">
                <a:latin typeface="Times New Roman" panose="02020603050405020304" pitchFamily="18" charset="0"/>
                <a:cs typeface="Times New Roman" panose="02020603050405020304" pitchFamily="18" charset="0"/>
              </a:rPr>
              <a:t>MATLAB</a:t>
            </a:r>
            <a:r>
              <a:rPr lang="zh-CN" altLang="en-US" sz="2800" dirty="0" smtClean="0">
                <a:latin typeface="+mn-ea"/>
              </a:rPr>
              <a:t>软件为自动控制系统的分析与研究提供了一个强有力的工具。</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0" lang="zh-CN" altLang="en-US"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0" lang="zh-CN" altLang="en-US"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57</TotalTime>
  <Words>2658</Words>
  <Application>Microsoft Office PowerPoint</Application>
  <PresentationFormat>全屏显示(4:3)</PresentationFormat>
  <Paragraphs>148</Paragraphs>
  <Slides>59</Slides>
  <Notes>1</Notes>
  <HiddenSlides>0</HiddenSlides>
  <MMClips>0</MMClips>
  <ScaleCrop>false</ScaleCrop>
  <HeadingPairs>
    <vt:vector size="4" baseType="variant">
      <vt:variant>
        <vt:lpstr>主题</vt:lpstr>
      </vt:variant>
      <vt:variant>
        <vt:i4>1</vt:i4>
      </vt:variant>
      <vt:variant>
        <vt:lpstr>幻灯片标题</vt:lpstr>
      </vt:variant>
      <vt:variant>
        <vt:i4>59</vt:i4>
      </vt:variant>
    </vt:vector>
  </HeadingPairs>
  <TitlesOfParts>
    <vt:vector size="60" baseType="lpstr">
      <vt:lpstr>默认设计模板</vt:lpstr>
      <vt:lpstr>第1篇    自动控制原理</vt:lpstr>
      <vt:lpstr>第1篇 自动控制原理</vt:lpstr>
      <vt:lpstr>第一章 自动控制系统概述</vt:lpstr>
      <vt:lpstr>第一节  引言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开环控制和闭环控制</vt:lpstr>
      <vt:lpstr>一、开环控制系统</vt:lpstr>
      <vt:lpstr>PowerPoint 演示文稿</vt:lpstr>
      <vt:lpstr>开环控制系统的特点</vt:lpstr>
      <vt:lpstr>二、闭环控制系统</vt:lpstr>
      <vt:lpstr>图1-3    电炉箱恒温自动控制系统</vt:lpstr>
      <vt:lpstr>PowerPoint 演示文稿</vt:lpstr>
      <vt:lpstr>闭环控制系统的特点</vt:lpstr>
      <vt:lpstr>第三节  自动控制系统的组成</vt:lpstr>
      <vt:lpstr>PowerPoint 演示文稿</vt:lpstr>
      <vt:lpstr>PowerPoint 演示文稿</vt:lpstr>
      <vt:lpstr>PowerPoint 演示文稿</vt:lpstr>
      <vt:lpstr>PowerPoint 演示文稿</vt:lpstr>
      <vt:lpstr>PowerPoint 演示文稿</vt:lpstr>
      <vt:lpstr>通过两个例题来说明系统组成和框图</vt:lpstr>
      <vt:lpstr>PowerPoint 演示文稿</vt:lpstr>
      <vt:lpstr>PowerPoint 演示文稿</vt:lpstr>
      <vt:lpstr>PowerPoint 演示文稿</vt:lpstr>
      <vt:lpstr>第四节  自动控制系统的分类</vt:lpstr>
      <vt:lpstr>  在数控机床控制系统中,目前国内用得较多的两种系统:</vt:lpstr>
      <vt:lpstr> ②日本FANUC数控系统。 　　交流变频伺服系统(刀架精确定位) </vt:lpstr>
      <vt:lpstr>PowerPoint 演示文稿</vt:lpstr>
      <vt:lpstr>PowerPoint 演示文稿</vt:lpstr>
      <vt:lpstr>PowerPoint 演示文稿</vt:lpstr>
      <vt:lpstr>PowerPoint 演示文稿</vt:lpstr>
      <vt:lpstr>二、按系统传输信号对时间的关系分类</vt:lpstr>
      <vt:lpstr>三、按系统的输出量和输入量间的关系分类</vt:lpstr>
      <vt:lpstr>PowerPoint 演示文稿</vt:lpstr>
      <vt:lpstr>四、按系统中的参数对时间的变化情况分类</vt:lpstr>
      <vt:lpstr>第五节  自动控制系统的指标</vt:lpstr>
      <vt:lpstr>    ３.稳定的重要性:不稳定的系统是无法进行工作的；因此，对任何自动控制系统，首要的条件便是系统能稳定正常运行。</vt:lpstr>
      <vt:lpstr>PowerPoint 演示文稿</vt:lpstr>
      <vt:lpstr>PowerPoint 演示文稿</vt:lpstr>
      <vt:lpstr>三、系统动态性能指标（Dynamic Performance Specification）</vt:lpstr>
      <vt:lpstr>PowerPoint 演示文稿</vt:lpstr>
      <vt:lpstr>PowerPoint 演示文稿</vt:lpstr>
      <vt:lpstr>PowerPoint 演示文稿</vt:lpstr>
      <vt:lpstr>PowerPoint 演示文稿</vt:lpstr>
      <vt:lpstr>第六节  研究自动控制系统的方法</vt:lpstr>
      <vt:lpstr>PowerPoint 演示文稿</vt:lpstr>
      <vt:lpstr>PowerPoint 演示文稿</vt:lpstr>
      <vt:lpstr>本  章  小  结</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361</cp:revision>
  <cp:lastPrinted>2113-01-01T00:00:00Z</cp:lastPrinted>
  <dcterms:created xsi:type="dcterms:W3CDTF">2113-01-01T00:00:00Z</dcterms:created>
  <dcterms:modified xsi:type="dcterms:W3CDTF">2018-05-17T05:59:28Z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2052-10.1.0.7245</vt:lpwstr>
  </property>
</Properties>
</file>